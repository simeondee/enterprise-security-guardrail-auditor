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7" r:id="rId11"/>
    <p:sldId id="268" r:id="rId12"/>
    <p:sldId id="269" r:id="rId13"/>
    <p:sldId id="270" r:id="rId14"/>
    <p:sldId id="271" r:id="rId15"/>
    <p:sldId id="272" r:id="rId16"/>
    <p:sldId id="265" r:id="rId17"/>
    <p:sldId id="266" r:id="rId18"/>
    <p:sldId id="264" r:id="rId19"/>
    <p:sldId id="273" r:id="rId20"/>
    <p:sldId id="274" r:id="rId21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7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7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7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7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0" y="137160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0">
                <a:solidFill>
                  <a:srgbClr val="3882F6"/>
                </a:solidFill>
                <a:latin typeface="Calibri"/>
              </a:rPr>
              <a:t>🛡️</a:t>
            </a:r>
            <a:endParaRPr sz="6400" b="0">
              <a:solidFill>
                <a:srgbClr val="3882F6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71600" y="246888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Calibri"/>
              </a:rPr>
              <a:t>Enterprise Security Guardrail Auditor</a:t>
            </a:r>
            <a:endParaRPr sz="40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754880" y="3474720"/>
            <a:ext cx="2743200" cy="38100"/>
          </a:xfrm>
          <a:prstGeom prst="rect">
            <a:avLst/>
          </a:prstGeom>
          <a:solidFill>
            <a:srgbClr val="38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3749039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94A3B8"/>
                </a:solidFill>
                <a:latin typeface="Calibri"/>
              </a:rPr>
              <a:t>API-first Infrastructure Security Scanner  •  Terraform  •  Risk Scoring  •  Dashboard</a:t>
            </a:r>
            <a:endParaRPr sz="1800" b="0">
              <a:solidFill>
                <a:srgbClr val="94A3B8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828800" y="475488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4748B"/>
                </a:solidFill>
                <a:latin typeface="Calibri"/>
              </a:rPr>
              <a:t>Technical Architecture Review &amp; MVP Demo</a:t>
            </a:r>
            <a:endParaRPr sz="1600" b="0">
              <a:solidFill>
                <a:srgbClr val="64748B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828800" y="5760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4748B"/>
                </a:solidFill>
                <a:latin typeface="Calibri"/>
              </a:rPr>
              <a:t>Adedoyin Simeon Adeyemi  •  May 2026</a:t>
            </a:r>
            <a:endParaRPr sz="1400" b="0">
              <a:solidFill>
                <a:srgbClr val="64748B"/>
              </a:solidFill>
              <a:latin typeface="Calibri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38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Problem Statement</a:t>
            </a:r>
            <a:endParaRPr sz="32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286000" cy="38100"/>
          </a:xfrm>
          <a:prstGeom prst="rect">
            <a:avLst/>
          </a:prstGeom>
          <a:solidFill>
            <a:srgbClr val="38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  <a:latin typeface="Calibri"/>
              </a:rPr>
              <a:t>Infrastructure misconfigurations are the #1 cause of cloud security breaches</a:t>
            </a:r>
            <a:endParaRPr sz="1600" b="0">
              <a:solidFill>
                <a:srgbClr val="94A3B8"/>
              </a:solidFill>
              <a:latin typeface="Calibri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2560320" cy="3200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37744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>
                <a:solidFill>
                  <a:srgbClr val="FFFFFF"/>
                </a:solidFill>
                <a:latin typeface="Calibri"/>
              </a:rPr>
              <a:t>☁️</a:t>
            </a:r>
            <a:endParaRPr sz="4000" b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14400" y="32004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Public S3 Buckets</a:t>
            </a:r>
            <a:endParaRPr sz="18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14400" y="384048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4A3B8"/>
                </a:solidFill>
                <a:latin typeface="Calibri"/>
              </a:rPr>
              <a:t>Exposing sensitive data to the internet</a:t>
            </a:r>
            <a:endParaRPr sz="1400" b="0">
              <a:solidFill>
                <a:srgbClr val="94A3B8"/>
              </a:solidFill>
              <a:latin typeface="Calibri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3520439" y="2103120"/>
            <a:ext cx="2560320" cy="3200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03319" y="237744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>
                <a:solidFill>
                  <a:srgbClr val="FFFFFF"/>
                </a:solidFill>
                <a:latin typeface="Calibri"/>
              </a:rPr>
              <a:t>🔓</a:t>
            </a:r>
            <a:endParaRPr sz="4000" b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703319" y="32004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Open SSH Ports</a:t>
            </a:r>
            <a:endParaRPr sz="18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703319" y="384048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4A3B8"/>
                </a:solidFill>
                <a:latin typeface="Calibri"/>
              </a:rPr>
              <a:t>Inviting brute-force attacks on servers</a:t>
            </a:r>
            <a:endParaRPr sz="1400" b="0">
              <a:solidFill>
                <a:srgbClr val="94A3B8"/>
              </a:solidFill>
              <a:latin typeface="Calibri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309359" y="2103120"/>
            <a:ext cx="2560320" cy="3200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39" y="237744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>
                <a:solidFill>
                  <a:srgbClr val="FFFFFF"/>
                </a:solidFill>
                <a:latin typeface="Calibri"/>
              </a:rPr>
              <a:t>💾</a:t>
            </a:r>
            <a:endParaRPr sz="4000" b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92239" y="32004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Unencrypted Databases</a:t>
            </a:r>
            <a:endParaRPr sz="18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492239" y="384048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4A3B8"/>
                </a:solidFill>
                <a:latin typeface="Calibri"/>
              </a:rPr>
              <a:t>Violating compliance (HIPAA, SOC2, PCI-DSS)</a:t>
            </a:r>
            <a:endParaRPr sz="1400" b="0">
              <a:solidFill>
                <a:srgbClr val="94A3B8"/>
              </a:solidFill>
              <a:latin typeface="Calibri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9098280" y="2103120"/>
            <a:ext cx="2560320" cy="3200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81160" y="237744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>
                <a:solidFill>
                  <a:srgbClr val="FFFFFF"/>
                </a:solidFill>
                <a:latin typeface="Calibri"/>
              </a:rPr>
              <a:t>👤</a:t>
            </a:r>
            <a:endParaRPr sz="4000" b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281160" y="32004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Wildcard IAM Policies</a:t>
            </a:r>
            <a:endParaRPr sz="18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281160" y="384048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4A3B8"/>
                </a:solidFill>
                <a:latin typeface="Calibri"/>
              </a:rPr>
              <a:t>Granting god-mode access across accounts</a:t>
            </a:r>
            <a:endParaRPr sz="1400" b="0">
              <a:solidFill>
                <a:srgbClr val="94A3B8"/>
              </a:solidFill>
              <a:latin typeface="Calibri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1440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4B8A6"/>
                </a:solidFill>
                <a:latin typeface="Calibri"/>
              </a:rPr>
              <a:t>Teams need automated, continuous auditing of infrastructure-as-code before deployment.</a:t>
            </a:r>
            <a:endParaRPr sz="1600" b="1">
              <a:solidFill>
                <a:srgbClr val="14B8A6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Solution Overview</a:t>
            </a:r>
            <a:endParaRPr sz="32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286000" cy="38100"/>
          </a:xfrm>
          <a:prstGeom prst="rect">
            <a:avLst/>
          </a:prstGeom>
          <a:solidFill>
            <a:srgbClr val="38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  <a:latin typeface="Calibri"/>
              </a:rPr>
              <a:t>Enterprise Security Guardrail Auditor — an API-first infrastructure scanner</a:t>
            </a:r>
            <a:endParaRPr sz="1600" b="0">
              <a:solidFill>
                <a:srgbClr val="94A3B8"/>
              </a:solidFill>
              <a:latin typeface="Calibri"/>
            </a:endParaRPr>
          </a:p>
        </p:txBody>
      </p:sp>
      <p:sp>
        <p:nvSpPr>
          <p:cNvPr id="5" name="Oval 4"/>
          <p:cNvSpPr/>
          <p:nvPr/>
        </p:nvSpPr>
        <p:spPr>
          <a:xfrm>
            <a:off x="1554480" y="2286000"/>
            <a:ext cx="914400" cy="914400"/>
          </a:xfrm>
          <a:prstGeom prst="ellipse">
            <a:avLst/>
          </a:prstGeom>
          <a:solidFill>
            <a:srgbClr val="38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54480" y="242316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</a:rPr>
              <a:t>1</a:t>
            </a:r>
            <a:endParaRPr sz="32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651760" y="246888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94A3B8"/>
                </a:solidFill>
                <a:latin typeface="Calibri"/>
              </a:rPr>
              <a:t>→</a:t>
            </a:r>
            <a:endParaRPr sz="2800" b="0">
              <a:solidFill>
                <a:srgbClr val="94A3B8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14400" y="33832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882F6"/>
                </a:solidFill>
                <a:latin typeface="Calibri"/>
              </a:rPr>
              <a:t>PARSE</a:t>
            </a:r>
            <a:endParaRPr sz="2000" b="1">
              <a:solidFill>
                <a:srgbClr val="3882F6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14400" y="393192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4A3B8"/>
                </a:solidFill>
                <a:latin typeface="Calibri"/>
              </a:rPr>
              <a:t>Terraform
configuration files</a:t>
            </a:r>
            <a:endParaRPr sz="1400" b="0">
              <a:solidFill>
                <a:srgbClr val="94A3B8"/>
              </a:solidFill>
              <a:latin typeface="Calibri"/>
            </a:endParaRPr>
          </a:p>
        </p:txBody>
      </p:sp>
      <p:sp>
        <p:nvSpPr>
          <p:cNvPr id="10" name="Oval 9"/>
          <p:cNvSpPr/>
          <p:nvPr/>
        </p:nvSpPr>
        <p:spPr>
          <a:xfrm>
            <a:off x="4343399" y="2286000"/>
            <a:ext cx="914400" cy="91440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399" y="242316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</a:rPr>
              <a:t>2</a:t>
            </a:r>
            <a:endParaRPr sz="32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40679" y="246888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94A3B8"/>
                </a:solidFill>
                <a:latin typeface="Calibri"/>
              </a:rPr>
              <a:t>→</a:t>
            </a:r>
            <a:endParaRPr sz="2800" b="0">
              <a:solidFill>
                <a:srgbClr val="94A3B8"/>
              </a:solidFill>
              <a:latin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703319" y="33832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4B8A6"/>
                </a:solidFill>
                <a:latin typeface="Calibri"/>
              </a:rPr>
              <a:t>EVALUATE</a:t>
            </a:r>
            <a:endParaRPr sz="2000" b="1">
              <a:solidFill>
                <a:srgbClr val="14B8A6"/>
              </a:solidFill>
              <a:latin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703319" y="393192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4A3B8"/>
                </a:solidFill>
                <a:latin typeface="Calibri"/>
              </a:rPr>
              <a:t>Against 15
security rules</a:t>
            </a:r>
            <a:endParaRPr sz="1400" b="0">
              <a:solidFill>
                <a:srgbClr val="94A3B8"/>
              </a:solidFill>
              <a:latin typeface="Calibri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7132319" y="2286000"/>
            <a:ext cx="914400" cy="91440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19" y="242316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</a:rPr>
              <a:t>3</a:t>
            </a:r>
            <a:endParaRPr sz="32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229599" y="246888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94A3B8"/>
                </a:solidFill>
                <a:latin typeface="Calibri"/>
              </a:rPr>
              <a:t>→</a:t>
            </a:r>
            <a:endParaRPr sz="2800" b="0">
              <a:solidFill>
                <a:srgbClr val="94A3B8"/>
              </a:solidFill>
              <a:latin typeface="Calibr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492239" y="33832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97316"/>
                </a:solidFill>
                <a:latin typeface="Calibri"/>
              </a:rPr>
              <a:t>SCORE</a:t>
            </a:r>
            <a:endParaRPr sz="2000" b="1">
              <a:solidFill>
                <a:srgbClr val="F97316"/>
              </a:solidFill>
              <a:latin typeface="Calibr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492239" y="393192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4A3B8"/>
                </a:solidFill>
                <a:latin typeface="Calibri"/>
              </a:rPr>
              <a:t>Weighted risk
0–100 scale</a:t>
            </a:r>
            <a:endParaRPr sz="1400" b="0">
              <a:solidFill>
                <a:srgbClr val="94A3B8"/>
              </a:solidFill>
              <a:latin typeface="Calibri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9921240" y="2286000"/>
            <a:ext cx="914400" cy="91440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921240" y="242316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</a:rPr>
              <a:t>4</a:t>
            </a:r>
            <a:endParaRPr sz="32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281160" y="33832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22C55E"/>
                </a:solidFill>
                <a:latin typeface="Calibri"/>
              </a:rPr>
              <a:t>VISUALIZE</a:t>
            </a:r>
            <a:endParaRPr sz="2000" b="1">
              <a:solidFill>
                <a:srgbClr val="22C55E"/>
              </a:solidFill>
              <a:latin typeface="Calibri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281160" y="393192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4A3B8"/>
                </a:solidFill>
                <a:latin typeface="Calibri"/>
              </a:rPr>
              <a:t>Real-time
dashboard</a:t>
            </a:r>
            <a:endParaRPr sz="1400" b="0">
              <a:solidFill>
                <a:srgbClr val="94A3B8"/>
              </a:solidFill>
              <a:latin typeface="Calibri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14400" y="5029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FFFFFF"/>
                </a:solidFill>
                <a:latin typeface="Calibri"/>
              </a:rPr>
              <a:t>Upload a .tf file  →  Get instant security findings with remediation guidance</a:t>
            </a:r>
            <a:endParaRPr sz="2000" b="0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System Architecture</a:t>
            </a:r>
            <a:endParaRPr sz="32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286000" cy="38100"/>
          </a:xfrm>
          <a:prstGeom prst="rect">
            <a:avLst/>
          </a:prstGeom>
          <a:solidFill>
            <a:srgbClr val="38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  <a:latin typeface="Calibri"/>
              </a:rPr>
              <a:t>API-first, async, pluggable rule engine</a:t>
            </a:r>
            <a:endParaRPr sz="1600" b="0">
              <a:solidFill>
                <a:srgbClr val="94A3B8"/>
              </a:solidFill>
              <a:latin typeface="Calibri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2286000"/>
            <a:ext cx="4114800" cy="32004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8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46888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882F6"/>
                </a:solidFill>
                <a:latin typeface="Calibri"/>
              </a:rPr>
              <a:t>Frontend — React 19 + TypeScript</a:t>
            </a:r>
            <a:endParaRPr sz="1600" b="1">
              <a:solidFill>
                <a:srgbClr val="3882F6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05840" y="3017520"/>
            <a:ext cx="3566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3882F6"/>
                </a:solidFill>
                <a:latin typeface="Calibri"/>
              </a:rPr>
              <a:t>●  </a:t>
            </a:r>
            <a:r>
              <a:rPr sz="1300">
                <a:solidFill>
                  <a:srgbClr val="F1F5F9"/>
                </a:solidFill>
                <a:latin typeface="Calibri"/>
              </a:rPr>
              <a:t>Dashboard &amp; Risk Visualization</a:t>
            </a:r>
            <a:endParaRPr sz="1300">
              <a:solidFill>
                <a:srgbClr val="F1F5F9"/>
              </a:solidFill>
              <a:latin typeface="Calibri"/>
            </a:endParaRP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3882F6"/>
                </a:solidFill>
                <a:latin typeface="Calibri"/>
              </a:rPr>
              <a:t>●  </a:t>
            </a:r>
            <a:r>
              <a:rPr sz="1300">
                <a:solidFill>
                  <a:srgbClr val="F1F5F9"/>
                </a:solidFill>
                <a:latin typeface="Calibri"/>
              </a:rPr>
              <a:t>Scan Management</a:t>
            </a:r>
            <a:endParaRPr sz="1300">
              <a:solidFill>
                <a:srgbClr val="F1F5F9"/>
              </a:solidFill>
              <a:latin typeface="Calibri"/>
            </a:endParaRP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3882F6"/>
                </a:solidFill>
                <a:latin typeface="Calibri"/>
              </a:rPr>
              <a:t>●  </a:t>
            </a:r>
            <a:r>
              <a:rPr sz="1300">
                <a:solidFill>
                  <a:srgbClr val="F1F5F9"/>
                </a:solidFill>
                <a:latin typeface="Calibri"/>
              </a:rPr>
              <a:t>Guardrail Configuration</a:t>
            </a:r>
            <a:endParaRPr sz="1300">
              <a:solidFill>
                <a:srgbClr val="F1F5F9"/>
              </a:solidFill>
              <a:latin typeface="Calibri"/>
            </a:endParaRP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3882F6"/>
                </a:solidFill>
                <a:latin typeface="Calibri"/>
              </a:rPr>
              <a:t>●  </a:t>
            </a:r>
            <a:r>
              <a:rPr sz="1300">
                <a:solidFill>
                  <a:srgbClr val="F1F5F9"/>
                </a:solidFill>
                <a:latin typeface="Calibri"/>
              </a:rPr>
              <a:t>Tailwind CSS + Recharts</a:t>
            </a:r>
            <a:endParaRPr sz="1300">
              <a:solidFill>
                <a:srgbClr val="F1F5F9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0" y="347472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4A3B8"/>
                </a:solidFill>
                <a:latin typeface="Calibri"/>
              </a:rPr>
              <a:t>REST API</a:t>
            </a:r>
            <a:endParaRPr sz="1400" b="0">
              <a:solidFill>
                <a:srgbClr val="94A3B8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029200" y="38404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3882F6"/>
                </a:solidFill>
                <a:latin typeface="Calibri"/>
              </a:rPr>
              <a:t>◀─────▶</a:t>
            </a:r>
            <a:endParaRPr sz="1800" b="0">
              <a:solidFill>
                <a:srgbClr val="3882F6"/>
              </a:solidFill>
              <a:latin typeface="Calibri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675120" y="2286000"/>
            <a:ext cx="4754880" cy="32004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246888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B8A6"/>
                </a:solidFill>
                <a:latin typeface="Calibri"/>
              </a:rPr>
              <a:t>Backend — FastAPI + SQLAlchemy Async</a:t>
            </a:r>
            <a:endParaRPr sz="1600" b="1">
              <a:solidFill>
                <a:srgbClr val="14B8A6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949440" y="3017520"/>
            <a:ext cx="42062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3882F6"/>
                </a:solidFill>
                <a:latin typeface="Calibri"/>
              </a:rPr>
              <a:t>●  </a:t>
            </a:r>
            <a:r>
              <a:rPr sz="1300">
                <a:solidFill>
                  <a:srgbClr val="F1F5F9"/>
                </a:solidFill>
                <a:latin typeface="Calibri"/>
              </a:rPr>
              <a:t>Thin Controllers + Service Layer</a:t>
            </a:r>
            <a:endParaRPr sz="1300">
              <a:solidFill>
                <a:srgbClr val="F1F5F9"/>
              </a:solidFill>
              <a:latin typeface="Calibri"/>
            </a:endParaRP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3882F6"/>
                </a:solidFill>
                <a:latin typeface="Calibri"/>
              </a:rPr>
              <a:t>●  </a:t>
            </a:r>
            <a:r>
              <a:rPr sz="1300">
                <a:solidFill>
                  <a:srgbClr val="F1F5F9"/>
                </a:solidFill>
                <a:latin typeface="Calibri"/>
              </a:rPr>
              <a:t>Scanner: Parser → Rules → Scoring</a:t>
            </a:r>
            <a:endParaRPr sz="1300">
              <a:solidFill>
                <a:srgbClr val="F1F5F9"/>
              </a:solidFill>
              <a:latin typeface="Calibri"/>
            </a:endParaRP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3882F6"/>
                </a:solidFill>
                <a:latin typeface="Calibri"/>
              </a:rPr>
              <a:t>●  </a:t>
            </a:r>
            <a:r>
              <a:rPr sz="1300">
                <a:solidFill>
                  <a:srgbClr val="F1F5F9"/>
                </a:solidFill>
                <a:latin typeface="Calibri"/>
              </a:rPr>
              <a:t>Async throughout (aiosqlite)</a:t>
            </a:r>
            <a:endParaRPr sz="1300">
              <a:solidFill>
                <a:srgbClr val="F1F5F9"/>
              </a:solidFill>
              <a:latin typeface="Calibri"/>
            </a:endParaRP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3882F6"/>
                </a:solidFill>
                <a:latin typeface="Calibri"/>
              </a:rPr>
              <a:t>●  </a:t>
            </a:r>
            <a:r>
              <a:rPr sz="1300">
                <a:solidFill>
                  <a:srgbClr val="F1F5F9"/>
                </a:solidFill>
                <a:latin typeface="Calibri"/>
              </a:rPr>
              <a:t>SQLite Database</a:t>
            </a:r>
            <a:endParaRPr sz="1300">
              <a:solidFill>
                <a:srgbClr val="F1F5F9"/>
              </a:solidFill>
              <a:latin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31520" y="57607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4B8A6"/>
                </a:solidFill>
                <a:latin typeface="Calibri"/>
              </a:rPr>
              <a:t>●  </a:t>
            </a:r>
            <a:r>
              <a:rPr sz="1300">
                <a:solidFill>
                  <a:srgbClr val="94A3B8"/>
                </a:solidFill>
                <a:latin typeface="Calibri"/>
              </a:rPr>
              <a:t>API-first: Frontend is a pure REST consumer</a:t>
            </a:r>
            <a:endParaRPr sz="1300">
              <a:solidFill>
                <a:srgbClr val="94A3B8"/>
              </a:solidFill>
              <a:latin typeface="Calibri"/>
            </a:endParaRP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4B8A6"/>
                </a:solidFill>
                <a:latin typeface="Calibri"/>
              </a:rPr>
              <a:t>●  </a:t>
            </a:r>
            <a:r>
              <a:rPr sz="1300">
                <a:solidFill>
                  <a:srgbClr val="94A3B8"/>
                </a:solidFill>
                <a:latin typeface="Calibri"/>
              </a:rPr>
              <a:t>Pluggable rules: BaseRule subclasses</a:t>
            </a:r>
            <a:endParaRPr sz="1300">
              <a:solidFill>
                <a:srgbClr val="94A3B8"/>
              </a:solidFill>
              <a:latin typeface="Calibri"/>
            </a:endParaRP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4B8A6"/>
                </a:solidFill>
                <a:latin typeface="Calibri"/>
              </a:rPr>
              <a:t>●  </a:t>
            </a:r>
            <a:r>
              <a:rPr sz="1300">
                <a:solidFill>
                  <a:srgbClr val="94A3B8"/>
                </a:solidFill>
                <a:latin typeface="Calibri"/>
              </a:rPr>
              <a:t>Async throughout: FastAPI + SQLAlchemy async</a:t>
            </a:r>
            <a:endParaRPr sz="1300">
              <a:solidFill>
                <a:srgbClr val="94A3B8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Scanner Engine Design</a:t>
            </a:r>
            <a:endParaRPr sz="32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286000" cy="38100"/>
          </a:xfrm>
          <a:prstGeom prst="rect">
            <a:avLst/>
          </a:prstGeom>
          <a:solidFill>
            <a:srgbClr val="38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  <a:latin typeface="Calibri"/>
              </a:rPr>
              <a:t>Four-stage pipeline with pluggable rules</a:t>
            </a:r>
            <a:endParaRPr sz="1600" b="0">
              <a:solidFill>
                <a:srgbClr val="94A3B8"/>
              </a:solidFill>
              <a:latin typeface="Calibri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2011680"/>
          <a:ext cx="685800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3200400"/>
                <a:gridCol w="2286000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Stage</a:t>
                      </a:r>
                      <a:endParaRPr sz="1300" b="1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388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Component</a:t>
                      </a:r>
                      <a:endParaRPr sz="1300" b="1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388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Output</a:t>
                      </a:r>
                      <a:endParaRPr sz="1300" b="1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3882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1F5F9"/>
                          </a:solidFill>
                          <a:latin typeface="Calibri"/>
                        </a:rPr>
                        <a:t>1. Parse</a:t>
                      </a:r>
                      <a:endParaRPr sz="1200">
                        <a:solidFill>
                          <a:srgbClr val="F1F5F9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1F5F9"/>
                          </a:solidFill>
                          <a:latin typeface="Calibri"/>
                        </a:rPr>
                        <a:t>TerraformParser</a:t>
                      </a:r>
                      <a:endParaRPr sz="1200">
                        <a:solidFill>
                          <a:srgbClr val="F1F5F9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1F5F9"/>
                          </a:solidFill>
                          <a:latin typeface="Calibri"/>
                        </a:rPr>
                        <a:t>list[ParsedResource]</a:t>
                      </a:r>
                      <a:endParaRPr sz="1200">
                        <a:solidFill>
                          <a:srgbClr val="F1F5F9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1F5F9"/>
                          </a:solidFill>
                          <a:latin typeface="Calibri"/>
                        </a:rPr>
                        <a:t>2. Evaluate</a:t>
                      </a:r>
                      <a:endParaRPr sz="1200">
                        <a:solidFill>
                          <a:srgbClr val="F1F5F9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1F5F9"/>
                          </a:solidFill>
                          <a:latin typeface="Calibri"/>
                        </a:rPr>
                        <a:t>RuleRegistry → BaseRule.evaluate()</a:t>
                      </a:r>
                      <a:endParaRPr sz="1200">
                        <a:solidFill>
                          <a:srgbClr val="F1F5F9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1F5F9"/>
                          </a:solidFill>
                          <a:latin typeface="Calibri"/>
                        </a:rPr>
                        <a:t>list[Finding]</a:t>
                      </a:r>
                      <a:endParaRPr sz="1200">
                        <a:solidFill>
                          <a:srgbClr val="F1F5F9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F172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1F5F9"/>
                          </a:solidFill>
                          <a:latin typeface="Calibri"/>
                        </a:rPr>
                        <a:t>3. Score</a:t>
                      </a:r>
                      <a:endParaRPr sz="1200">
                        <a:solidFill>
                          <a:srgbClr val="F1F5F9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1F5F9"/>
                          </a:solidFill>
                          <a:latin typeface="Calibri"/>
                        </a:rPr>
                        <a:t>calculate_risk_score()</a:t>
                      </a:r>
                      <a:endParaRPr sz="1200">
                        <a:solidFill>
                          <a:srgbClr val="F1F5F9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1F5F9"/>
                          </a:solidFill>
                          <a:latin typeface="Calibri"/>
                        </a:rPr>
                        <a:t>float (0–100)</a:t>
                      </a:r>
                      <a:endParaRPr sz="1200">
                        <a:solidFill>
                          <a:srgbClr val="F1F5F9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1F5F9"/>
                          </a:solidFill>
                          <a:latin typeface="Calibri"/>
                        </a:rPr>
                        <a:t>4. Aggregate</a:t>
                      </a:r>
                      <a:endParaRPr sz="1200">
                        <a:solidFill>
                          <a:srgbClr val="F1F5F9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1F5F9"/>
                          </a:solidFill>
                          <a:latin typeface="Calibri"/>
                        </a:rPr>
                        <a:t>ScanEngine.scan()</a:t>
                      </a:r>
                      <a:endParaRPr sz="1200">
                        <a:solidFill>
                          <a:srgbClr val="F1F5F9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1F5F9"/>
                          </a:solidFill>
                          <a:latin typeface="Calibri"/>
                        </a:rPr>
                        <a:t>ScanResult</a:t>
                      </a:r>
                      <a:endParaRPr sz="1200">
                        <a:solidFill>
                          <a:srgbClr val="F1F5F9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046720" y="20116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882F6"/>
                </a:solidFill>
                <a:latin typeface="Calibri"/>
              </a:rPr>
              <a:t>Key Design Choices</a:t>
            </a:r>
            <a:endParaRPr sz="1800" b="1">
              <a:solidFill>
                <a:srgbClr val="3882F6"/>
              </a:solidFill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046720" y="2514600"/>
            <a:ext cx="1828800" cy="38100"/>
          </a:xfrm>
          <a:prstGeom prst="rect">
            <a:avLst/>
          </a:prstGeom>
          <a:solidFill>
            <a:srgbClr val="38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0" y="2743200"/>
            <a:ext cx="3657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400">
                <a:solidFill>
                  <a:srgbClr val="3882F6"/>
                </a:solidFill>
                <a:latin typeface="Calibri"/>
              </a:rPr>
              <a:t>●  </a:t>
            </a:r>
            <a:r>
              <a:rPr sz="1400">
                <a:solidFill>
                  <a:srgbClr val="F1F5F9"/>
                </a:solidFill>
                <a:latin typeface="Calibri"/>
              </a:rPr>
              <a:t>Frozen dataclasses for
immutable scan results</a:t>
            </a:r>
            <a:endParaRPr sz="1400">
              <a:solidFill>
                <a:srgbClr val="F1F5F9"/>
              </a:solidFill>
              <a:latin typeface="Calibri"/>
            </a:endParaRP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3882F6"/>
                </a:solidFill>
                <a:latin typeface="Calibri"/>
              </a:rPr>
              <a:t>●  </a:t>
            </a:r>
            <a:r>
              <a:rPr sz="1400">
                <a:solidFill>
                  <a:srgbClr val="F1F5F9"/>
                </a:solidFill>
                <a:latin typeface="Calibri"/>
              </a:rPr>
              <a:t>Registry pattern for O(1)
rule lookup by resource type</a:t>
            </a:r>
            <a:endParaRPr sz="1400">
              <a:solidFill>
                <a:srgbClr val="F1F5F9"/>
              </a:solidFill>
              <a:latin typeface="Calibri"/>
            </a:endParaRP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3882F6"/>
                </a:solidFill>
                <a:latin typeface="Calibri"/>
              </a:rPr>
              <a:t>●  </a:t>
            </a:r>
            <a:r>
              <a:rPr sz="1400">
                <a:solidFill>
                  <a:srgbClr val="F1F5F9"/>
                </a:solidFill>
                <a:latin typeface="Calibri"/>
              </a:rPr>
              <a:t>Dual scan paths
(engine + legacy regex)</a:t>
            </a:r>
            <a:endParaRPr sz="1400">
              <a:solidFill>
                <a:srgbClr val="F1F5F9"/>
              </a:solidFill>
              <a:latin typeface="Calibri"/>
            </a:endParaRP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3882F6"/>
                </a:solidFill>
                <a:latin typeface="Calibri"/>
              </a:rPr>
              <a:t>●  </a:t>
            </a:r>
            <a:r>
              <a:rPr sz="1400">
                <a:solidFill>
                  <a:srgbClr val="F1F5F9"/>
                </a:solidFill>
                <a:latin typeface="Calibri"/>
              </a:rPr>
              <a:t>Automatic deduplication
of findings</a:t>
            </a:r>
            <a:endParaRPr sz="1400">
              <a:solidFill>
                <a:srgbClr val="F1F5F9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Security Rules</a:t>
            </a:r>
            <a:endParaRPr sz="32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286000" cy="38100"/>
          </a:xfrm>
          <a:prstGeom prst="rect">
            <a:avLst/>
          </a:prstGeom>
          <a:solidFill>
            <a:srgbClr val="38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  <a:latin typeface="Calibri"/>
              </a:rPr>
              <a:t>15 rules covering critical AWS infrastructure patterns</a:t>
            </a:r>
            <a:endParaRPr sz="1600" b="0">
              <a:solidFill>
                <a:srgbClr val="94A3B8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882F6"/>
                </a:solidFill>
                <a:latin typeface="Calibri"/>
              </a:rPr>
              <a:t>Engine Rules (5)</a:t>
            </a:r>
            <a:endParaRPr sz="1600" b="1">
              <a:solidFill>
                <a:srgbClr val="3882F6"/>
              </a:solidFill>
              <a:latin typeface="Calibri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2286000"/>
          <a:ext cx="64008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188720"/>
                <a:gridCol w="3200400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Rule</a:t>
                      </a:r>
                      <a:endParaRPr sz="1300" b="1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388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Severity</a:t>
                      </a:r>
                      <a:endParaRPr sz="1300" b="1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388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Catches</a:t>
                      </a:r>
                      <a:endParaRPr sz="1300" b="1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3882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1F5F9"/>
                          </a:solidFill>
                          <a:latin typeface="Calibri"/>
                        </a:rPr>
                        <a:t>S3 Public Access</a:t>
                      </a:r>
                      <a:endParaRPr sz="1200">
                        <a:solidFill>
                          <a:srgbClr val="F1F5F9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1F5F9"/>
                          </a:solidFill>
                          <a:latin typeface="Calibri"/>
                        </a:rPr>
                        <a:t>Critical</a:t>
                      </a:r>
                      <a:endParaRPr sz="1200">
                        <a:solidFill>
                          <a:srgbClr val="F1F5F9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1F5F9"/>
                          </a:solidFill>
                          <a:latin typeface="Calibri"/>
                        </a:rPr>
                        <a:t>Public ACL on S3 buckets</a:t>
                      </a:r>
                      <a:endParaRPr sz="1200">
                        <a:solidFill>
                          <a:srgbClr val="F1F5F9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1F5F9"/>
                          </a:solidFill>
                          <a:latin typeface="Calibri"/>
                        </a:rPr>
                        <a:t>Open SSH</a:t>
                      </a:r>
                      <a:endParaRPr sz="1200">
                        <a:solidFill>
                          <a:srgbClr val="F1F5F9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1F5F9"/>
                          </a:solidFill>
                          <a:latin typeface="Calibri"/>
                        </a:rPr>
                        <a:t>Critical</a:t>
                      </a:r>
                      <a:endParaRPr sz="1200">
                        <a:solidFill>
                          <a:srgbClr val="F1F5F9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1F5F9"/>
                          </a:solidFill>
                          <a:latin typeface="Calibri"/>
                        </a:rPr>
                        <a:t>Port 22 open to 0.0.0.0/0</a:t>
                      </a:r>
                      <a:endParaRPr sz="1200">
                        <a:solidFill>
                          <a:srgbClr val="F1F5F9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F172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1F5F9"/>
                          </a:solidFill>
                          <a:latin typeface="Calibri"/>
                        </a:rPr>
                        <a:t>Public Database</a:t>
                      </a:r>
                      <a:endParaRPr sz="1200">
                        <a:solidFill>
                          <a:srgbClr val="F1F5F9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1F5F9"/>
                          </a:solidFill>
                          <a:latin typeface="Calibri"/>
                        </a:rPr>
                        <a:t>Critical</a:t>
                      </a:r>
                      <a:endParaRPr sz="1200">
                        <a:solidFill>
                          <a:srgbClr val="F1F5F9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1F5F9"/>
                          </a:solidFill>
                          <a:latin typeface="Calibri"/>
                        </a:rPr>
                        <a:t>RDS publicly_accessible = true</a:t>
                      </a:r>
                      <a:endParaRPr sz="1200">
                        <a:solidFill>
                          <a:srgbClr val="F1F5F9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1F5F9"/>
                          </a:solidFill>
                          <a:latin typeface="Calibri"/>
                        </a:rPr>
                        <a:t>Wildcard IAM</a:t>
                      </a:r>
                      <a:endParaRPr sz="1200">
                        <a:solidFill>
                          <a:srgbClr val="F1F5F9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1F5F9"/>
                          </a:solidFill>
                          <a:latin typeface="Calibri"/>
                        </a:rPr>
                        <a:t>Critical</a:t>
                      </a:r>
                      <a:endParaRPr sz="1200">
                        <a:solidFill>
                          <a:srgbClr val="F1F5F9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1F5F9"/>
                          </a:solidFill>
                          <a:latin typeface="Calibri"/>
                        </a:rPr>
                        <a:t>Action: "*" in policies</a:t>
                      </a:r>
                      <a:endParaRPr sz="1200">
                        <a:solidFill>
                          <a:srgbClr val="F1F5F9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F172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1F5F9"/>
                          </a:solidFill>
                          <a:latin typeface="Calibri"/>
                        </a:rPr>
                        <a:t>Disabled Encryption</a:t>
                      </a:r>
                      <a:endParaRPr sz="1200">
                        <a:solidFill>
                          <a:srgbClr val="F1F5F9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1F5F9"/>
                          </a:solidFill>
                          <a:latin typeface="Calibri"/>
                        </a:rPr>
                        <a:t>High</a:t>
                      </a:r>
                      <a:endParaRPr sz="1200">
                        <a:solidFill>
                          <a:srgbClr val="F1F5F9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1F5F9"/>
                          </a:solidFill>
                          <a:latin typeface="Calibri"/>
                        </a:rPr>
                        <a:t>storage_encrypted = false</a:t>
                      </a:r>
                      <a:endParaRPr sz="1200">
                        <a:solidFill>
                          <a:srgbClr val="F1F5F9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589520" y="18288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B8A6"/>
                </a:solidFill>
                <a:latin typeface="Calibri"/>
              </a:rPr>
              <a:t>Seed Guardrails (+10)</a:t>
            </a:r>
            <a:endParaRPr sz="1600" b="1">
              <a:solidFill>
                <a:srgbClr val="14B8A6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589520" y="2286000"/>
            <a:ext cx="4114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14B8A6"/>
                </a:solidFill>
                <a:latin typeface="Calibri"/>
              </a:rPr>
              <a:t>●  </a:t>
            </a:r>
            <a:r>
              <a:rPr sz="1300">
                <a:solidFill>
                  <a:srgbClr val="F1F5F9"/>
                </a:solidFill>
                <a:latin typeface="Calibri"/>
              </a:rPr>
              <a:t>Default VPC detection</a:t>
            </a:r>
            <a:endParaRPr sz="1300">
              <a:solidFill>
                <a:srgbClr val="F1F5F9"/>
              </a:solidFill>
              <a:latin typeface="Calibri"/>
            </a:endParaRP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4B8A6"/>
                </a:solidFill>
                <a:latin typeface="Calibri"/>
              </a:rPr>
              <a:t>●  </a:t>
            </a:r>
            <a:r>
              <a:rPr sz="1300">
                <a:solidFill>
                  <a:srgbClr val="F1F5F9"/>
                </a:solidFill>
                <a:latin typeface="Calibri"/>
              </a:rPr>
              <a:t>CloudWatch logging</a:t>
            </a:r>
            <a:endParaRPr sz="1300">
              <a:solidFill>
                <a:srgbClr val="F1F5F9"/>
              </a:solidFill>
              <a:latin typeface="Calibri"/>
            </a:endParaRP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4B8A6"/>
                </a:solidFill>
                <a:latin typeface="Calibri"/>
              </a:rPr>
              <a:t>●  </a:t>
            </a:r>
            <a:r>
              <a:rPr sz="1300">
                <a:solidFill>
                  <a:srgbClr val="F1F5F9"/>
                </a:solidFill>
                <a:latin typeface="Calibri"/>
              </a:rPr>
              <a:t>EBS volume encryption</a:t>
            </a:r>
            <a:endParaRPr sz="1300">
              <a:solidFill>
                <a:srgbClr val="F1F5F9"/>
              </a:solidFill>
              <a:latin typeface="Calibri"/>
            </a:endParaRP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4B8A6"/>
                </a:solidFill>
                <a:latin typeface="Calibri"/>
              </a:rPr>
              <a:t>●  </a:t>
            </a:r>
            <a:r>
              <a:rPr sz="1300">
                <a:solidFill>
                  <a:srgbClr val="F1F5F9"/>
                </a:solidFill>
                <a:latin typeface="Calibri"/>
              </a:rPr>
              <a:t>RDS backup retention</a:t>
            </a:r>
            <a:endParaRPr sz="1300">
              <a:solidFill>
                <a:srgbClr val="F1F5F9"/>
              </a:solidFill>
              <a:latin typeface="Calibri"/>
            </a:endParaRP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4B8A6"/>
                </a:solidFill>
                <a:latin typeface="Calibri"/>
              </a:rPr>
              <a:t>●  </a:t>
            </a:r>
            <a:r>
              <a:rPr sz="1300">
                <a:solidFill>
                  <a:srgbClr val="F1F5F9"/>
                </a:solidFill>
                <a:latin typeface="Calibri"/>
              </a:rPr>
              <a:t>Security group egress</a:t>
            </a:r>
            <a:endParaRPr sz="1300">
              <a:solidFill>
                <a:srgbClr val="F1F5F9"/>
              </a:solidFill>
              <a:latin typeface="Calibri"/>
            </a:endParaRP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4B8A6"/>
                </a:solidFill>
                <a:latin typeface="Calibri"/>
              </a:rPr>
              <a:t>●  </a:t>
            </a:r>
            <a:r>
              <a:rPr sz="1300">
                <a:solidFill>
                  <a:srgbClr val="F1F5F9"/>
                </a:solidFill>
                <a:latin typeface="Calibri"/>
              </a:rPr>
              <a:t>S3 versioning</a:t>
            </a:r>
            <a:endParaRPr sz="1300">
              <a:solidFill>
                <a:srgbClr val="F1F5F9"/>
              </a:solidFill>
              <a:latin typeface="Calibri"/>
            </a:endParaRP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4B8A6"/>
                </a:solidFill>
                <a:latin typeface="Calibri"/>
              </a:rPr>
              <a:t>●  </a:t>
            </a:r>
            <a:r>
              <a:rPr sz="1300">
                <a:solidFill>
                  <a:srgbClr val="F1F5F9"/>
                </a:solidFill>
                <a:latin typeface="Calibri"/>
              </a:rPr>
              <a:t>IAM user policies</a:t>
            </a:r>
            <a:endParaRPr sz="1300">
              <a:solidFill>
                <a:srgbClr val="F1F5F9"/>
              </a:solidFill>
              <a:latin typeface="Calibri"/>
            </a:endParaRP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4B8A6"/>
                </a:solidFill>
                <a:latin typeface="Calibri"/>
              </a:rPr>
              <a:t>●  </a:t>
            </a:r>
            <a:r>
              <a:rPr sz="1300">
                <a:solidFill>
                  <a:srgbClr val="F1F5F9"/>
                </a:solidFill>
                <a:latin typeface="Calibri"/>
              </a:rPr>
              <a:t>MFA enforcement</a:t>
            </a:r>
            <a:endParaRPr sz="1300">
              <a:solidFill>
                <a:srgbClr val="F1F5F9"/>
              </a:solidFill>
              <a:latin typeface="Calibri"/>
            </a:endParaRP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4B8A6"/>
                </a:solidFill>
                <a:latin typeface="Calibri"/>
              </a:rPr>
              <a:t>●  </a:t>
            </a:r>
            <a:r>
              <a:rPr sz="1300">
                <a:solidFill>
                  <a:srgbClr val="F1F5F9"/>
                </a:solidFill>
                <a:latin typeface="Calibri"/>
              </a:rPr>
              <a:t>VPC flow logs</a:t>
            </a:r>
            <a:endParaRPr sz="1300">
              <a:solidFill>
                <a:srgbClr val="F1F5F9"/>
              </a:solidFill>
              <a:latin typeface="Calibri"/>
            </a:endParaRP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4B8A6"/>
                </a:solidFill>
                <a:latin typeface="Calibri"/>
              </a:rPr>
              <a:t>●  </a:t>
            </a:r>
            <a:r>
              <a:rPr sz="1300">
                <a:solidFill>
                  <a:srgbClr val="F1F5F9"/>
                </a:solidFill>
                <a:latin typeface="Calibri"/>
              </a:rPr>
              <a:t>KMS key rotation</a:t>
            </a:r>
            <a:endParaRPr sz="1300">
              <a:solidFill>
                <a:srgbClr val="F1F5F9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Risk Scoring</a:t>
            </a:r>
            <a:endParaRPr sz="32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286000" cy="38100"/>
          </a:xfrm>
          <a:prstGeom prst="rect">
            <a:avLst/>
          </a:prstGeom>
          <a:solidFill>
            <a:srgbClr val="38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  <a:latin typeface="Calibri"/>
              </a:rPr>
              <a:t>Weighted severity model with 0–100 scale</a:t>
            </a:r>
            <a:endParaRPr sz="1600" b="0">
              <a:solidFill>
                <a:srgbClr val="94A3B8"/>
              </a:solidFill>
              <a:latin typeface="Calibri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2011680"/>
          <a:ext cx="50292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097280"/>
                <a:gridCol w="2560320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Severity</a:t>
                      </a:r>
                      <a:endParaRPr sz="1300" b="1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388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Weight</a:t>
                      </a:r>
                      <a:endParaRPr sz="1300" b="1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388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Rationale</a:t>
                      </a:r>
                      <a:endParaRPr sz="1300" b="1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3882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1F5F9"/>
                          </a:solidFill>
                          <a:latin typeface="Calibri"/>
                        </a:rPr>
                        <a:t>Critical</a:t>
                      </a:r>
                      <a:endParaRPr sz="1200">
                        <a:solidFill>
                          <a:srgbClr val="F1F5F9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1F5F9"/>
                          </a:solidFill>
                          <a:latin typeface="Calibri"/>
                        </a:rPr>
                        <a:t>10.0</a:t>
                      </a:r>
                      <a:endParaRPr sz="1200">
                        <a:solidFill>
                          <a:srgbClr val="F1F5F9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1F5F9"/>
                          </a:solidFill>
                          <a:latin typeface="Calibri"/>
                        </a:rPr>
                        <a:t>Immediate exploitation risk</a:t>
                      </a:r>
                      <a:endParaRPr sz="1200">
                        <a:solidFill>
                          <a:srgbClr val="F1F5F9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1F5F9"/>
                          </a:solidFill>
                          <a:latin typeface="Calibri"/>
                        </a:rPr>
                        <a:t>High</a:t>
                      </a:r>
                      <a:endParaRPr sz="1200">
                        <a:solidFill>
                          <a:srgbClr val="F1F5F9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1F5F9"/>
                          </a:solidFill>
                          <a:latin typeface="Calibri"/>
                        </a:rPr>
                        <a:t>7.0</a:t>
                      </a:r>
                      <a:endParaRPr sz="1200">
                        <a:solidFill>
                          <a:srgbClr val="F1F5F9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1F5F9"/>
                          </a:solidFill>
                          <a:latin typeface="Calibri"/>
                        </a:rPr>
                        <a:t>Significant security gap</a:t>
                      </a:r>
                      <a:endParaRPr sz="1200">
                        <a:solidFill>
                          <a:srgbClr val="F1F5F9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F172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1F5F9"/>
                          </a:solidFill>
                          <a:latin typeface="Calibri"/>
                        </a:rPr>
                        <a:t>Medium</a:t>
                      </a:r>
                      <a:endParaRPr sz="1200">
                        <a:solidFill>
                          <a:srgbClr val="F1F5F9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1F5F9"/>
                          </a:solidFill>
                          <a:latin typeface="Calibri"/>
                        </a:rPr>
                        <a:t>4.0</a:t>
                      </a:r>
                      <a:endParaRPr sz="1200">
                        <a:solidFill>
                          <a:srgbClr val="F1F5F9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1F5F9"/>
                          </a:solidFill>
                          <a:latin typeface="Calibri"/>
                        </a:rPr>
                        <a:t>Best practice violation</a:t>
                      </a:r>
                      <a:endParaRPr sz="1200">
                        <a:solidFill>
                          <a:srgbClr val="F1F5F9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1F5F9"/>
                          </a:solidFill>
                          <a:latin typeface="Calibri"/>
                        </a:rPr>
                        <a:t>Low</a:t>
                      </a:r>
                      <a:endParaRPr sz="1200">
                        <a:solidFill>
                          <a:srgbClr val="F1F5F9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1F5F9"/>
                          </a:solidFill>
                          <a:latin typeface="Calibri"/>
                        </a:rPr>
                        <a:t>1.0</a:t>
                      </a:r>
                      <a:endParaRPr sz="1200">
                        <a:solidFill>
                          <a:srgbClr val="F1F5F9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1F5F9"/>
                          </a:solidFill>
                          <a:latin typeface="Calibri"/>
                        </a:rPr>
                        <a:t>Minor improvement</a:t>
                      </a:r>
                      <a:endParaRPr sz="1200">
                        <a:solidFill>
                          <a:srgbClr val="F1F5F9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F172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1F5F9"/>
                          </a:solidFill>
                          <a:latin typeface="Calibri"/>
                        </a:rPr>
                        <a:t>Info</a:t>
                      </a:r>
                      <a:endParaRPr sz="1200">
                        <a:solidFill>
                          <a:srgbClr val="F1F5F9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1F5F9"/>
                          </a:solidFill>
                          <a:latin typeface="Calibri"/>
                        </a:rPr>
                        <a:t>0.5</a:t>
                      </a:r>
                      <a:endParaRPr sz="1200">
                        <a:solidFill>
                          <a:srgbClr val="F1F5F9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1F5F9"/>
                          </a:solidFill>
                          <a:latin typeface="Calibri"/>
                        </a:rPr>
                        <a:t>Advisory only</a:t>
                      </a:r>
                      <a:endParaRPr sz="1200">
                        <a:solidFill>
                          <a:srgbClr val="F1F5F9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0" y="20116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882F6"/>
                </a:solidFill>
                <a:latin typeface="Calibri"/>
              </a:rPr>
              <a:t>Formula</a:t>
            </a:r>
            <a:endParaRPr sz="1800" b="1">
              <a:solidFill>
                <a:srgbClr val="3882F6"/>
              </a:solidFill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400800" y="2514600"/>
            <a:ext cx="1828800" cy="38100"/>
          </a:xfrm>
          <a:prstGeom prst="rect">
            <a:avLst/>
          </a:prstGeom>
          <a:solidFill>
            <a:srgbClr val="38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0" y="2743200"/>
            <a:ext cx="5029200" cy="914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2880360"/>
            <a:ext cx="4480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4B8A6"/>
                </a:solidFill>
                <a:latin typeface="Consolas"/>
              </a:rPr>
              <a:t>score = (weighted_sum / max_possible) × 100</a:t>
            </a:r>
            <a:endParaRPr sz="1800" b="1">
              <a:solidFill>
                <a:srgbClr val="14B8A6"/>
              </a:solidFill>
              <a:latin typeface="Consola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400800" y="41148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Score Interpretation</a:t>
            </a:r>
            <a:endParaRPr sz="16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400800" y="4572000"/>
            <a:ext cx="1097280" cy="109728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466344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22C55E"/>
                </a:solidFill>
                <a:latin typeface="Calibri"/>
              </a:rPr>
              <a:t>0</a:t>
            </a:r>
            <a:endParaRPr sz="2400" b="1">
              <a:solidFill>
                <a:srgbClr val="22C55E"/>
              </a:solidFill>
              <a:latin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400800" y="52120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Calibri"/>
              </a:rPr>
              <a:t>Clean</a:t>
            </a:r>
            <a:endParaRPr sz="1100" b="0">
              <a:solidFill>
                <a:srgbClr val="94A3B8"/>
              </a:solidFill>
              <a:latin typeface="Calibri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7635240" y="4572000"/>
            <a:ext cx="1097280" cy="109728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35240" y="466344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EAB308"/>
                </a:solidFill>
                <a:latin typeface="Calibri"/>
              </a:rPr>
              <a:t>25</a:t>
            </a:r>
            <a:endParaRPr sz="2400" b="1">
              <a:solidFill>
                <a:srgbClr val="EAB308"/>
              </a:solidFill>
              <a:latin typeface="Calibr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635240" y="52120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Calibri"/>
              </a:rPr>
              <a:t>Low Risk</a:t>
            </a:r>
            <a:endParaRPr sz="1100" b="0">
              <a:solidFill>
                <a:srgbClr val="94A3B8"/>
              </a:solidFill>
              <a:latin typeface="Calibri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8869680" y="4572000"/>
            <a:ext cx="1097280" cy="109728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0" y="466344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97316"/>
                </a:solidFill>
                <a:latin typeface="Calibri"/>
              </a:rPr>
              <a:t>60</a:t>
            </a:r>
            <a:endParaRPr sz="2400" b="1">
              <a:solidFill>
                <a:srgbClr val="F97316"/>
              </a:solidFill>
              <a:latin typeface="Calibr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869680" y="52120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Calibri"/>
              </a:rPr>
              <a:t>High Risk</a:t>
            </a:r>
            <a:endParaRPr sz="1100" b="0">
              <a:solidFill>
                <a:srgbClr val="94A3B8"/>
              </a:solidFill>
              <a:latin typeface="Calibri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10104120" y="4572000"/>
            <a:ext cx="1097280" cy="109728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104120" y="466344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EF4444"/>
                </a:solidFill>
                <a:latin typeface="Calibri"/>
              </a:rPr>
              <a:t>100</a:t>
            </a:r>
            <a:endParaRPr sz="2400" b="1">
              <a:solidFill>
                <a:srgbClr val="EF4444"/>
              </a:solidFill>
              <a:latin typeface="Calibri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0104120" y="52120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Calibri"/>
              </a:rPr>
              <a:t>Critical</a:t>
            </a:r>
            <a:endParaRPr sz="1100" b="0">
              <a:solidFill>
                <a:srgbClr val="94A3B8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Frontend Dashboard</a:t>
            </a:r>
            <a:endParaRPr sz="32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286000" cy="38100"/>
          </a:xfrm>
          <a:prstGeom prst="rect">
            <a:avLst/>
          </a:prstGeom>
          <a:solidFill>
            <a:srgbClr val="38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  <a:latin typeface="Calibri"/>
              </a:rPr>
              <a:t>React 19 + TypeScript + Tailwind CSS + Recharts</a:t>
            </a:r>
            <a:endParaRPr sz="1600" b="0">
              <a:solidFill>
                <a:srgbClr val="94A3B8"/>
              </a:solidFill>
              <a:latin typeface="Calibri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2103120" cy="2926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56032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FFFFFF"/>
                </a:solidFill>
                <a:latin typeface="Calibri"/>
              </a:rPr>
              <a:t>📊</a:t>
            </a:r>
            <a:endParaRPr sz="3600" b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85800" y="32918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Dashboard</a:t>
            </a:r>
            <a:endParaRPr sz="16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85800" y="374904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  <a:latin typeface="Calibri"/>
              </a:rPr>
              <a:t>Stats cards, severity bar chart,
recent scans overview</a:t>
            </a:r>
            <a:endParaRPr sz="1200" b="0">
              <a:solidFill>
                <a:srgbClr val="94A3B8"/>
              </a:solidFill>
              <a:latin typeface="Calibri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2834640" y="2286000"/>
            <a:ext cx="2103120" cy="2926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34640" y="256032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FFFFFF"/>
                </a:solidFill>
                <a:latin typeface="Calibri"/>
              </a:rPr>
              <a:t>📋</a:t>
            </a:r>
            <a:endParaRPr sz="3600" b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971800" y="32918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Scan List</a:t>
            </a:r>
            <a:endParaRPr sz="16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971800" y="374904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  <a:latin typeface="Calibri"/>
              </a:rPr>
              <a:t>Paginated table with
status &amp; file type filters</a:t>
            </a:r>
            <a:endParaRPr sz="1200" b="0">
              <a:solidFill>
                <a:srgbClr val="94A3B8"/>
              </a:solidFill>
              <a:latin typeface="Calibri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120640" y="2286000"/>
            <a:ext cx="2103120" cy="2926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0640" y="256032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FFFFFF"/>
                </a:solidFill>
                <a:latin typeface="Calibri"/>
              </a:rPr>
              <a:t>📤</a:t>
            </a:r>
            <a:endParaRPr sz="3600" b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257800" y="32918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New Scan</a:t>
            </a:r>
            <a:endParaRPr sz="16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257800" y="374904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  <a:latin typeface="Calibri"/>
              </a:rPr>
              <a:t>Upload .tf file or
paste content directly</a:t>
            </a:r>
            <a:endParaRPr sz="1200" b="0">
              <a:solidFill>
                <a:srgbClr val="94A3B8"/>
              </a:solidFill>
              <a:latin typeface="Calibri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7406640" y="2286000"/>
            <a:ext cx="2103120" cy="2926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06640" y="256032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FFFFFF"/>
                </a:solidFill>
                <a:latin typeface="Calibri"/>
              </a:rPr>
              <a:t>🔍</a:t>
            </a:r>
            <a:endParaRPr sz="3600" b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543800" y="32918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Scan Detail</a:t>
            </a:r>
            <a:endParaRPr sz="16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543800" y="374904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  <a:latin typeface="Calibri"/>
              </a:rPr>
              <a:t>Findings by severity,
risk score badge</a:t>
            </a:r>
            <a:endParaRPr sz="1200" b="0">
              <a:solidFill>
                <a:srgbClr val="94A3B8"/>
              </a:solidFill>
              <a:latin typeface="Calibri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9692640" y="2286000"/>
            <a:ext cx="2103120" cy="2926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92640" y="256032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FFFFFF"/>
                </a:solidFill>
                <a:latin typeface="Calibri"/>
              </a:rPr>
              <a:t>⚙️</a:t>
            </a:r>
            <a:endParaRPr sz="3600" b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829800" y="32918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Guardrails</a:t>
            </a:r>
            <a:endParaRPr sz="16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829800" y="374904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  <a:latin typeface="Calibri"/>
              </a:rPr>
              <a:t>Security rule
management interface</a:t>
            </a:r>
            <a:endParaRPr sz="1200" b="0">
              <a:solidFill>
                <a:srgbClr val="94A3B8"/>
              </a:solidFill>
              <a:latin typeface="Calibri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31520" y="56692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4B8A6"/>
                </a:solidFill>
                <a:latin typeface="Calibri"/>
              </a:rPr>
              <a:t>React 19  •  TypeScript  •  Tailwind CSS 3  •  Recharts  •  React Query  •  React Router 7</a:t>
            </a:r>
            <a:endParaRPr sz="1400" b="0">
              <a:solidFill>
                <a:srgbClr val="14B8A6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Tech Stack</a:t>
            </a:r>
            <a:endParaRPr sz="32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286000" cy="38100"/>
          </a:xfrm>
          <a:prstGeom prst="rect">
            <a:avLst/>
          </a:prstGeom>
          <a:solidFill>
            <a:srgbClr val="38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  <a:latin typeface="Calibri"/>
              </a:rPr>
              <a:t>Modern async Python + React with full DevOps pipeline</a:t>
            </a:r>
            <a:endParaRPr sz="1600" b="0">
              <a:solidFill>
                <a:srgbClr val="94A3B8"/>
              </a:solidFill>
              <a:latin typeface="Calibri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371600" y="1828800"/>
          <a:ext cx="941832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017520"/>
                <a:gridCol w="4572000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Layer</a:t>
                      </a:r>
                      <a:endParaRPr sz="1300" b="1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388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Technology</a:t>
                      </a:r>
                      <a:endParaRPr sz="1300" b="1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388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Purpose</a:t>
                      </a:r>
                      <a:endParaRPr sz="1300" b="1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3882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1F5F9"/>
                          </a:solidFill>
                          <a:latin typeface="Calibri"/>
                        </a:rPr>
                        <a:t>API Framework</a:t>
                      </a:r>
                      <a:endParaRPr sz="1200">
                        <a:solidFill>
                          <a:srgbClr val="F1F5F9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1F5F9"/>
                          </a:solidFill>
                          <a:latin typeface="Calibri"/>
                        </a:rPr>
                        <a:t>FastAPI</a:t>
                      </a:r>
                      <a:endParaRPr sz="1200">
                        <a:solidFill>
                          <a:srgbClr val="F1F5F9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1F5F9"/>
                          </a:solidFill>
                          <a:latin typeface="Calibri"/>
                        </a:rPr>
                        <a:t>Async REST API with OpenAPI docs</a:t>
                      </a:r>
                      <a:endParaRPr sz="1200">
                        <a:solidFill>
                          <a:srgbClr val="F1F5F9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1F5F9"/>
                          </a:solidFill>
                          <a:latin typeface="Calibri"/>
                        </a:rPr>
                        <a:t>ORM</a:t>
                      </a:r>
                      <a:endParaRPr sz="1200">
                        <a:solidFill>
                          <a:srgbClr val="F1F5F9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1F5F9"/>
                          </a:solidFill>
                          <a:latin typeface="Calibri"/>
                        </a:rPr>
                        <a:t>SQLAlchemy 2.x Async</a:t>
                      </a:r>
                      <a:endParaRPr sz="1200">
                        <a:solidFill>
                          <a:srgbClr val="F1F5F9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1F5F9"/>
                          </a:solidFill>
                          <a:latin typeface="Calibri"/>
                        </a:rPr>
                        <a:t>Async database operations</a:t>
                      </a:r>
                      <a:endParaRPr sz="1200">
                        <a:solidFill>
                          <a:srgbClr val="F1F5F9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F172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1F5F9"/>
                          </a:solidFill>
                          <a:latin typeface="Calibri"/>
                        </a:rPr>
                        <a:t>Database</a:t>
                      </a:r>
                      <a:endParaRPr sz="1200">
                        <a:solidFill>
                          <a:srgbClr val="F1F5F9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1F5F9"/>
                          </a:solidFill>
                          <a:latin typeface="Calibri"/>
                        </a:rPr>
                        <a:t>SQLite + aiosqlite</a:t>
                      </a:r>
                      <a:endParaRPr sz="1200">
                        <a:solidFill>
                          <a:srgbClr val="F1F5F9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1F5F9"/>
                          </a:solidFill>
                          <a:latin typeface="Calibri"/>
                        </a:rPr>
                        <a:t>Zero-config persistence</a:t>
                      </a:r>
                      <a:endParaRPr sz="1200">
                        <a:solidFill>
                          <a:srgbClr val="F1F5F9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1F5F9"/>
                          </a:solidFill>
                          <a:latin typeface="Calibri"/>
                        </a:rPr>
                        <a:t>Validation</a:t>
                      </a:r>
                      <a:endParaRPr sz="1200">
                        <a:solidFill>
                          <a:srgbClr val="F1F5F9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1F5F9"/>
                          </a:solidFill>
                          <a:latin typeface="Calibri"/>
                        </a:rPr>
                        <a:t>Pydantic v2</a:t>
                      </a:r>
                      <a:endParaRPr sz="1200">
                        <a:solidFill>
                          <a:srgbClr val="F1F5F9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1F5F9"/>
                          </a:solidFill>
                          <a:latin typeface="Calibri"/>
                        </a:rPr>
                        <a:t>Request/response schemas</a:t>
                      </a:r>
                      <a:endParaRPr sz="1200">
                        <a:solidFill>
                          <a:srgbClr val="F1F5F9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F172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1F5F9"/>
                          </a:solidFill>
                          <a:latin typeface="Calibri"/>
                        </a:rPr>
                        <a:t>Frontend</a:t>
                      </a:r>
                      <a:endParaRPr sz="1200">
                        <a:solidFill>
                          <a:srgbClr val="F1F5F9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1F5F9"/>
                          </a:solidFill>
                          <a:latin typeface="Calibri"/>
                        </a:rPr>
                        <a:t>React 19 + TypeScript</a:t>
                      </a:r>
                      <a:endParaRPr sz="1200">
                        <a:solidFill>
                          <a:srgbClr val="F1F5F9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1F5F9"/>
                          </a:solidFill>
                          <a:latin typeface="Calibri"/>
                        </a:rPr>
                        <a:t>Type-safe UI components</a:t>
                      </a:r>
                      <a:endParaRPr sz="1200">
                        <a:solidFill>
                          <a:srgbClr val="F1F5F9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1F5F9"/>
                          </a:solidFill>
                          <a:latin typeface="Calibri"/>
                        </a:rPr>
                        <a:t>Styling</a:t>
                      </a:r>
                      <a:endParaRPr sz="1200">
                        <a:solidFill>
                          <a:srgbClr val="F1F5F9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1F5F9"/>
                          </a:solidFill>
                          <a:latin typeface="Calibri"/>
                        </a:rPr>
                        <a:t>Tailwind CSS 3</a:t>
                      </a:r>
                      <a:endParaRPr sz="1200">
                        <a:solidFill>
                          <a:srgbClr val="F1F5F9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1F5F9"/>
                          </a:solidFill>
                          <a:latin typeface="Calibri"/>
                        </a:rPr>
                        <a:t>Utility-first responsive design</a:t>
                      </a:r>
                      <a:endParaRPr sz="1200">
                        <a:solidFill>
                          <a:srgbClr val="F1F5F9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F172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1F5F9"/>
                          </a:solidFill>
                          <a:latin typeface="Calibri"/>
                        </a:rPr>
                        <a:t>Charts</a:t>
                      </a:r>
                      <a:endParaRPr sz="1200">
                        <a:solidFill>
                          <a:srgbClr val="F1F5F9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1F5F9"/>
                          </a:solidFill>
                          <a:latin typeface="Calibri"/>
                        </a:rPr>
                        <a:t>Recharts</a:t>
                      </a:r>
                      <a:endParaRPr sz="1200">
                        <a:solidFill>
                          <a:srgbClr val="F1F5F9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1F5F9"/>
                          </a:solidFill>
                          <a:latin typeface="Calibri"/>
                        </a:rPr>
                        <a:t>Severity distribution visualization</a:t>
                      </a:r>
                      <a:endParaRPr sz="1200">
                        <a:solidFill>
                          <a:srgbClr val="F1F5F9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1F5F9"/>
                          </a:solidFill>
                          <a:latin typeface="Calibri"/>
                        </a:rPr>
                        <a:t>Server State</a:t>
                      </a:r>
                      <a:endParaRPr sz="1200">
                        <a:solidFill>
                          <a:srgbClr val="F1F5F9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1F5F9"/>
                          </a:solidFill>
                          <a:latin typeface="Calibri"/>
                        </a:rPr>
                        <a:t>@tanstack/react-query</a:t>
                      </a:r>
                      <a:endParaRPr sz="1200">
                        <a:solidFill>
                          <a:srgbClr val="F1F5F9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1F5F9"/>
                          </a:solidFill>
                          <a:latin typeface="Calibri"/>
                        </a:rPr>
                        <a:t>Cache, sync, background refresh</a:t>
                      </a:r>
                      <a:endParaRPr sz="1200">
                        <a:solidFill>
                          <a:srgbClr val="F1F5F9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F172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1F5F9"/>
                          </a:solidFill>
                          <a:latin typeface="Calibri"/>
                        </a:rPr>
                        <a:t>Testing</a:t>
                      </a:r>
                      <a:endParaRPr sz="1200">
                        <a:solidFill>
                          <a:srgbClr val="F1F5F9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1F5F9"/>
                          </a:solidFill>
                          <a:latin typeface="Calibri"/>
                        </a:rPr>
                        <a:t>pytest + Vitest + RTL</a:t>
                      </a:r>
                      <a:endParaRPr sz="1200">
                        <a:solidFill>
                          <a:srgbClr val="F1F5F9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1F5F9"/>
                          </a:solidFill>
                          <a:latin typeface="Calibri"/>
                        </a:rPr>
                        <a:t>Backend + frontend coverage</a:t>
                      </a:r>
                      <a:endParaRPr sz="1200">
                        <a:solidFill>
                          <a:srgbClr val="F1F5F9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1F5F9"/>
                          </a:solidFill>
                          <a:latin typeface="Calibri"/>
                        </a:rPr>
                        <a:t>CI/CD</a:t>
                      </a:r>
                      <a:endParaRPr sz="1200">
                        <a:solidFill>
                          <a:srgbClr val="F1F5F9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1F5F9"/>
                          </a:solidFill>
                          <a:latin typeface="Calibri"/>
                        </a:rPr>
                        <a:t>GitHub Actions</a:t>
                      </a:r>
                      <a:endParaRPr sz="1200">
                        <a:solidFill>
                          <a:srgbClr val="F1F5F9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1F5F9"/>
                          </a:solidFill>
                          <a:latin typeface="Calibri"/>
                        </a:rPr>
                        <a:t>5-job automated pipeline</a:t>
                      </a:r>
                      <a:endParaRPr sz="1200">
                        <a:solidFill>
                          <a:srgbClr val="F1F5F9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F172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1F5F9"/>
                          </a:solidFill>
                          <a:latin typeface="Calibri"/>
                        </a:rPr>
                        <a:t>Containers</a:t>
                      </a:r>
                      <a:endParaRPr sz="1200">
                        <a:solidFill>
                          <a:srgbClr val="F1F5F9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1F5F9"/>
                          </a:solidFill>
                          <a:latin typeface="Calibri"/>
                        </a:rPr>
                        <a:t>Docker + Compose</a:t>
                      </a:r>
                      <a:endParaRPr sz="1200">
                        <a:solidFill>
                          <a:srgbClr val="F1F5F9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1F5F9"/>
                          </a:solidFill>
                          <a:latin typeface="Calibri"/>
                        </a:rPr>
                        <a:t>Multi-stage production builds</a:t>
                      </a:r>
                      <a:endParaRPr sz="1200">
                        <a:solidFill>
                          <a:srgbClr val="F1F5F9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Testing &amp; Quality Assurance</a:t>
            </a:r>
            <a:endParaRPr sz="32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286000" cy="38100"/>
          </a:xfrm>
          <a:prstGeom prst="rect">
            <a:avLst/>
          </a:prstGeom>
          <a:solidFill>
            <a:srgbClr val="38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  <a:latin typeface="Calibri"/>
              </a:rPr>
              <a:t>Automated testing, linting, and security audit pipeline</a:t>
            </a:r>
            <a:endParaRPr sz="1600" b="0">
              <a:solidFill>
                <a:srgbClr val="94A3B8"/>
              </a:solidFill>
              <a:latin typeface="Calibri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2011680" cy="1188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488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  <a:latin typeface="Calibri"/>
              </a:rPr>
              <a:t>Backend Tests</a:t>
            </a:r>
            <a:endParaRPr sz="1200" b="0">
              <a:solidFill>
                <a:srgbClr val="94A3B8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31520" y="246888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97</a:t>
            </a:r>
            <a:endParaRPr sz="28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2834640" y="2011680"/>
            <a:ext cx="2011680" cy="1188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17520" y="21488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  <a:latin typeface="Calibri"/>
              </a:rPr>
              <a:t>Coverage</a:t>
            </a:r>
            <a:endParaRPr sz="1200" b="0">
              <a:solidFill>
                <a:srgbClr val="94A3B8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017520" y="246888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94.65%</a:t>
            </a:r>
            <a:endParaRPr sz="28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120640" y="2011680"/>
            <a:ext cx="2011680" cy="1188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0" y="21488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  <a:latin typeface="Calibri"/>
              </a:rPr>
              <a:t>Frontend Tests</a:t>
            </a:r>
            <a:endParaRPr sz="1200" b="0">
              <a:solidFill>
                <a:srgbClr val="94A3B8"/>
              </a:solidFill>
              <a:latin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303520" y="246888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24</a:t>
            </a:r>
            <a:endParaRPr sz="28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7406640" y="2011680"/>
            <a:ext cx="2011680" cy="1188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20" y="21488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  <a:latin typeface="Calibri"/>
              </a:rPr>
              <a:t>Lint Violations</a:t>
            </a:r>
            <a:endParaRPr sz="1200" b="0">
              <a:solidFill>
                <a:srgbClr val="94A3B8"/>
              </a:solidFill>
              <a:latin typeface="Calibr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589520" y="246888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0</a:t>
            </a:r>
            <a:endParaRPr sz="28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9692640" y="2011680"/>
            <a:ext cx="2011680" cy="1188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0" y="21488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  <a:latin typeface="Calibri"/>
              </a:rPr>
              <a:t>Security Findings</a:t>
            </a:r>
            <a:endParaRPr sz="1200" b="0">
              <a:solidFill>
                <a:srgbClr val="94A3B8"/>
              </a:solidFill>
              <a:latin typeface="Calibr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875520" y="246888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26 / 10 fixed</a:t>
            </a:r>
            <a:endParaRPr sz="28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31520" y="3657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882F6"/>
                </a:solidFill>
                <a:latin typeface="Calibri"/>
              </a:rPr>
              <a:t>Testing Approach</a:t>
            </a:r>
            <a:endParaRPr sz="1800" b="1">
              <a:solidFill>
                <a:srgbClr val="3882F6"/>
              </a:solidFill>
              <a:latin typeface="Calibri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731520" y="4069080"/>
            <a:ext cx="1828800" cy="38100"/>
          </a:xfrm>
          <a:prstGeom prst="rect">
            <a:avLst/>
          </a:prstGeom>
          <a:solidFill>
            <a:srgbClr val="38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2062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3882F6"/>
                </a:solidFill>
                <a:latin typeface="Calibri"/>
              </a:rPr>
              <a:t>●  </a:t>
            </a:r>
            <a:r>
              <a:rPr sz="1400">
                <a:solidFill>
                  <a:srgbClr val="F1F5F9"/>
                </a:solidFill>
                <a:latin typeface="Calibri"/>
              </a:rPr>
              <a:t>Async integration tests with httpx.AsyncClient</a:t>
            </a:r>
            <a:endParaRPr sz="1400">
              <a:solidFill>
                <a:srgbClr val="F1F5F9"/>
              </a:solidFill>
              <a:latin typeface="Calibri"/>
            </a:endParaRP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3882F6"/>
                </a:solidFill>
                <a:latin typeface="Calibri"/>
              </a:rPr>
              <a:t>●  </a:t>
            </a:r>
            <a:r>
              <a:rPr sz="1400">
                <a:solidFill>
                  <a:srgbClr val="F1F5F9"/>
                </a:solidFill>
                <a:latin typeface="Calibri"/>
              </a:rPr>
              <a:t>In-memory SQLite for test isolation</a:t>
            </a:r>
            <a:endParaRPr sz="1400">
              <a:solidFill>
                <a:srgbClr val="F1F5F9"/>
              </a:solidFill>
              <a:latin typeface="Calibri"/>
            </a:endParaRP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3882F6"/>
                </a:solidFill>
                <a:latin typeface="Calibri"/>
              </a:rPr>
              <a:t>●  </a:t>
            </a:r>
            <a:r>
              <a:rPr sz="1400">
                <a:solidFill>
                  <a:srgbClr val="F1F5F9"/>
                </a:solidFill>
                <a:latin typeface="Calibri"/>
              </a:rPr>
              <a:t>React Testing Library for behavior testing</a:t>
            </a:r>
            <a:endParaRPr sz="1400">
              <a:solidFill>
                <a:srgbClr val="F1F5F9"/>
              </a:solidFill>
              <a:latin typeface="Calibri"/>
            </a:endParaRP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3882F6"/>
                </a:solidFill>
                <a:latin typeface="Calibri"/>
              </a:rPr>
              <a:t>●  </a:t>
            </a:r>
            <a:r>
              <a:rPr sz="1400">
                <a:solidFill>
                  <a:srgbClr val="F1F5F9"/>
                </a:solidFill>
                <a:latin typeface="Calibri"/>
              </a:rPr>
              <a:t>Pre-commit hooks prevent regressions</a:t>
            </a:r>
            <a:endParaRPr sz="1400">
              <a:solidFill>
                <a:srgbClr val="F1F5F9"/>
              </a:solidFill>
              <a:latin typeface="Calibri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400800" y="3657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B8A6"/>
                </a:solidFill>
                <a:latin typeface="Calibri"/>
              </a:rPr>
              <a:t>Quality Gates</a:t>
            </a:r>
            <a:endParaRPr sz="1800" b="1">
              <a:solidFill>
                <a:srgbClr val="14B8A6"/>
              </a:solidFill>
              <a:latin typeface="Calibri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6400800" y="4069080"/>
            <a:ext cx="1828800" cy="381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42062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14B8A6"/>
                </a:solidFill>
                <a:latin typeface="Calibri"/>
              </a:rPr>
              <a:t>●  </a:t>
            </a:r>
            <a:r>
              <a:rPr sz="1400">
                <a:solidFill>
                  <a:srgbClr val="F1F5F9"/>
                </a:solidFill>
                <a:latin typeface="Calibri"/>
              </a:rPr>
              <a:t>ruff — linting (E, F, W, I, N, UP, S, B)</a:t>
            </a:r>
            <a:endParaRPr sz="1400">
              <a:solidFill>
                <a:srgbClr val="F1F5F9"/>
              </a:solidFill>
              <a:latin typeface="Calibri"/>
            </a:endParaRP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4B8A6"/>
                </a:solidFill>
                <a:latin typeface="Calibri"/>
              </a:rPr>
              <a:t>●  </a:t>
            </a:r>
            <a:r>
              <a:rPr sz="1400">
                <a:solidFill>
                  <a:srgbClr val="F1F5F9"/>
                </a:solidFill>
                <a:latin typeface="Calibri"/>
              </a:rPr>
              <a:t>black — code formatting</a:t>
            </a:r>
            <a:endParaRPr sz="1400">
              <a:solidFill>
                <a:srgbClr val="F1F5F9"/>
              </a:solidFill>
              <a:latin typeface="Calibri"/>
            </a:endParaRP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4B8A6"/>
                </a:solidFill>
                <a:latin typeface="Calibri"/>
              </a:rPr>
              <a:t>●  </a:t>
            </a:r>
            <a:r>
              <a:rPr sz="1400">
                <a:solidFill>
                  <a:srgbClr val="F1F5F9"/>
                </a:solidFill>
                <a:latin typeface="Calibri"/>
              </a:rPr>
              <a:t>mypy — static type checking</a:t>
            </a:r>
            <a:endParaRPr sz="1400">
              <a:solidFill>
                <a:srgbClr val="F1F5F9"/>
              </a:solidFill>
              <a:latin typeface="Calibri"/>
            </a:endParaRP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4B8A6"/>
                </a:solidFill>
                <a:latin typeface="Calibri"/>
              </a:rPr>
              <a:t>●  </a:t>
            </a:r>
            <a:r>
              <a:rPr sz="1400">
                <a:solidFill>
                  <a:srgbClr val="F1F5F9"/>
                </a:solidFill>
                <a:latin typeface="Calibri"/>
              </a:rPr>
              <a:t>tsc — TypeScript type checking</a:t>
            </a:r>
            <a:endParaRPr sz="1400">
              <a:solidFill>
                <a:srgbClr val="F1F5F9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DevOps &amp; Deployment</a:t>
            </a:r>
            <a:endParaRPr sz="32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286000" cy="38100"/>
          </a:xfrm>
          <a:prstGeom prst="rect">
            <a:avLst/>
          </a:prstGeom>
          <a:solidFill>
            <a:srgbClr val="38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  <a:latin typeface="Calibri"/>
              </a:rPr>
              <a:t>Production-ready containerized deployment</a:t>
            </a:r>
            <a:endParaRPr sz="1600" b="0">
              <a:solidFill>
                <a:srgbClr val="94A3B8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882F6"/>
                </a:solidFill>
                <a:latin typeface="Calibri"/>
              </a:rPr>
              <a:t>GitHub Actions CI — 5 Jobs</a:t>
            </a:r>
            <a:endParaRPr sz="1600" b="1">
              <a:solidFill>
                <a:srgbClr val="3882F6"/>
              </a:solidFill>
              <a:latin typeface="Calibri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31520" y="2560320"/>
            <a:ext cx="1828800" cy="5486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63347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2C55E"/>
                </a:solidFill>
                <a:latin typeface="Calibri"/>
              </a:rPr>
              <a:t>✓ backend-lint</a:t>
            </a:r>
            <a:endParaRPr sz="1200" b="0">
              <a:solidFill>
                <a:srgbClr val="22C55E"/>
              </a:solidFill>
              <a:latin typeface="Calibr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2743200" y="2560320"/>
            <a:ext cx="1828800" cy="5486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0" y="263347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2C55E"/>
                </a:solidFill>
                <a:latin typeface="Calibri"/>
              </a:rPr>
              <a:t>✓ backend-test</a:t>
            </a:r>
            <a:endParaRPr sz="1200" b="0">
              <a:solidFill>
                <a:srgbClr val="22C55E"/>
              </a:solidFill>
              <a:latin typeface="Calibri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754880" y="2560320"/>
            <a:ext cx="1828800" cy="5486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263347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2C55E"/>
                </a:solidFill>
                <a:latin typeface="Calibri"/>
              </a:rPr>
              <a:t>✓ frontend-lint</a:t>
            </a:r>
            <a:endParaRPr sz="1200" b="0">
              <a:solidFill>
                <a:srgbClr val="22C55E"/>
              </a:solidFill>
              <a:latin typeface="Calibri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766560" y="2560320"/>
            <a:ext cx="1828800" cy="5486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0" y="263347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2C55E"/>
                </a:solidFill>
                <a:latin typeface="Calibri"/>
              </a:rPr>
              <a:t>✓ frontend-test</a:t>
            </a:r>
            <a:endParaRPr sz="1200" b="0">
              <a:solidFill>
                <a:srgbClr val="22C55E"/>
              </a:solidFill>
              <a:latin typeface="Calibri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8778240" y="2560320"/>
            <a:ext cx="1828800" cy="5486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78240" y="263347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2C55E"/>
                </a:solidFill>
                <a:latin typeface="Calibri"/>
              </a:rPr>
              <a:t>✓ docker-build</a:t>
            </a:r>
            <a:endParaRPr sz="1200" b="0">
              <a:solidFill>
                <a:srgbClr val="22C55E"/>
              </a:solidFill>
              <a:latin typeface="Calibr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31520" y="3566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B8A6"/>
                </a:solidFill>
                <a:latin typeface="Calibri"/>
              </a:rPr>
              <a:t>Docker</a:t>
            </a:r>
            <a:endParaRPr sz="1600" b="1">
              <a:solidFill>
                <a:srgbClr val="14B8A6"/>
              </a:solidFill>
              <a:latin typeface="Calibr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31520" y="402336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14B8A6"/>
                </a:solidFill>
                <a:latin typeface="Calibri"/>
              </a:rPr>
              <a:t>●  </a:t>
            </a:r>
            <a:r>
              <a:rPr sz="1400">
                <a:solidFill>
                  <a:srgbClr val="F1F5F9"/>
                </a:solidFill>
                <a:latin typeface="Calibri"/>
              </a:rPr>
              <a:t>Multi-stage builds (small images)</a:t>
            </a:r>
            <a:endParaRPr sz="1400">
              <a:solidFill>
                <a:srgbClr val="F1F5F9"/>
              </a:solidFill>
              <a:latin typeface="Calibri"/>
            </a:endParaRP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4B8A6"/>
                </a:solidFill>
                <a:latin typeface="Calibri"/>
              </a:rPr>
              <a:t>●  </a:t>
            </a:r>
            <a:r>
              <a:rPr sz="1400">
                <a:solidFill>
                  <a:srgbClr val="F1F5F9"/>
                </a:solidFill>
                <a:latin typeface="Calibri"/>
              </a:rPr>
              <a:t>Non-root container users</a:t>
            </a:r>
            <a:endParaRPr sz="1400">
              <a:solidFill>
                <a:srgbClr val="F1F5F9"/>
              </a:solidFill>
              <a:latin typeface="Calibri"/>
            </a:endParaRP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4B8A6"/>
                </a:solidFill>
                <a:latin typeface="Calibri"/>
              </a:rPr>
              <a:t>●  </a:t>
            </a:r>
            <a:r>
              <a:rPr sz="1400">
                <a:solidFill>
                  <a:srgbClr val="F1F5F9"/>
                </a:solidFill>
                <a:latin typeface="Calibri"/>
              </a:rPr>
              <a:t>Healthcheck endpoints</a:t>
            </a:r>
            <a:endParaRPr sz="1400">
              <a:solidFill>
                <a:srgbClr val="F1F5F9"/>
              </a:solidFill>
              <a:latin typeface="Calibri"/>
            </a:endParaRP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4B8A6"/>
                </a:solidFill>
                <a:latin typeface="Calibri"/>
              </a:rPr>
              <a:t>●  </a:t>
            </a:r>
            <a:r>
              <a:rPr sz="1400">
                <a:solidFill>
                  <a:srgbClr val="F1F5F9"/>
                </a:solidFill>
                <a:latin typeface="Calibri"/>
              </a:rPr>
              <a:t>docker-compose one-command deploy</a:t>
            </a:r>
            <a:endParaRPr sz="1400">
              <a:solidFill>
                <a:srgbClr val="F1F5F9"/>
              </a:solidFill>
              <a:latin typeface="Calibr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400800" y="3566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882F6"/>
                </a:solidFill>
                <a:latin typeface="Calibri"/>
              </a:rPr>
              <a:t>Developer Tools</a:t>
            </a:r>
            <a:endParaRPr sz="1600" b="1">
              <a:solidFill>
                <a:srgbClr val="3882F6"/>
              </a:solidFill>
              <a:latin typeface="Calibr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400800" y="402336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3882F6"/>
                </a:solidFill>
                <a:latin typeface="Calibri"/>
              </a:rPr>
              <a:t>●  </a:t>
            </a:r>
            <a:r>
              <a:rPr sz="1400">
                <a:solidFill>
                  <a:srgbClr val="F1F5F9"/>
                </a:solidFill>
                <a:latin typeface="Calibri"/>
              </a:rPr>
              <a:t>Makefile with 12 shortcuts</a:t>
            </a:r>
            <a:endParaRPr sz="1400">
              <a:solidFill>
                <a:srgbClr val="F1F5F9"/>
              </a:solidFill>
              <a:latin typeface="Calibri"/>
            </a:endParaRP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3882F6"/>
                </a:solidFill>
                <a:latin typeface="Calibri"/>
              </a:rPr>
              <a:t>●  </a:t>
            </a:r>
            <a:r>
              <a:rPr sz="1400">
                <a:solidFill>
                  <a:srgbClr val="F1F5F9"/>
                </a:solidFill>
                <a:latin typeface="Calibri"/>
              </a:rPr>
              <a:t>Pre-commit hooks (ruff, black, mypy)</a:t>
            </a:r>
            <a:endParaRPr sz="1400">
              <a:solidFill>
                <a:srgbClr val="F1F5F9"/>
              </a:solidFill>
              <a:latin typeface="Calibri"/>
            </a:endParaRP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3882F6"/>
                </a:solidFill>
                <a:latin typeface="Calibri"/>
              </a:rPr>
              <a:t>●  </a:t>
            </a:r>
            <a:r>
              <a:rPr sz="1400">
                <a:solidFill>
                  <a:srgbClr val="F1F5F9"/>
                </a:solidFill>
                <a:latin typeface="Calibri"/>
              </a:rPr>
              <a:t>Secret detection in commits</a:t>
            </a:r>
            <a:endParaRPr sz="1400">
              <a:solidFill>
                <a:srgbClr val="F1F5F9"/>
              </a:solidFill>
              <a:latin typeface="Calibri"/>
            </a:endParaRP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3882F6"/>
                </a:solidFill>
                <a:latin typeface="Calibri"/>
              </a:rPr>
              <a:t>●  </a:t>
            </a:r>
            <a:r>
              <a:rPr sz="1400">
                <a:solidFill>
                  <a:srgbClr val="F1F5F9"/>
                </a:solidFill>
                <a:latin typeface="Calibri"/>
              </a:rPr>
              <a:t>.env.example for easy setup</a:t>
            </a:r>
            <a:endParaRPr sz="1400">
              <a:solidFill>
                <a:srgbClr val="F1F5F9"/>
              </a:solidFill>
              <a:latin typeface="Calibri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31520" y="5486400"/>
            <a:ext cx="10515600" cy="914400"/>
          </a:xfrm>
          <a:prstGeom prst="roundRect">
            <a:avLst/>
          </a:prstGeom>
          <a:solidFill>
            <a:srgbClr val="0D1117"/>
          </a:solidFill>
          <a:ln w="12700">
            <a:solidFill>
              <a:srgbClr val="33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562356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C55E"/>
                </a:solidFill>
                <a:latin typeface="Consolas"/>
              </a:rPr>
              <a:t>$ docker compose up --build -d    # Full stack in 60 seconds
$ make test                       # Run all tests
$ make lint                       # Run all linters</a:t>
            </a:r>
            <a:endParaRPr sz="1300" b="0">
              <a:solidFill>
                <a:srgbClr val="22C55E"/>
              </a:solidFill>
              <a:latin typeface="Consola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MVP Tradeoffs &amp; Limitations</a:t>
            </a:r>
            <a:endParaRPr sz="32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286000" cy="38100"/>
          </a:xfrm>
          <a:prstGeom prst="rect">
            <a:avLst/>
          </a:prstGeom>
          <a:solidFill>
            <a:srgbClr val="38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  <a:latin typeface="Calibri"/>
              </a:rPr>
              <a:t>Pragmatic decisions for rapid delivery</a:t>
            </a:r>
            <a:endParaRPr sz="1600" b="0">
              <a:solidFill>
                <a:srgbClr val="94A3B8"/>
              </a:solidFill>
              <a:latin typeface="Calibri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2011680"/>
          <a:ext cx="1033272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931920"/>
                <a:gridCol w="4114800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Limitation</a:t>
                      </a:r>
                      <a:endParaRPr sz="1300" b="1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388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Rationale</a:t>
                      </a:r>
                      <a:endParaRPr sz="1300" b="1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388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Future Fix</a:t>
                      </a:r>
                      <a:endParaRPr sz="1300" b="1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3882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1F5F9"/>
                          </a:solidFill>
                          <a:latin typeface="Calibri"/>
                        </a:rPr>
                        <a:t>No authentication</a:t>
                      </a:r>
                      <a:endParaRPr sz="1200">
                        <a:solidFill>
                          <a:srgbClr val="F1F5F9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1F5F9"/>
                          </a:solidFill>
                          <a:latin typeface="Calibri"/>
                        </a:rPr>
                        <a:t>MVP scope — scanner logic first</a:t>
                      </a:r>
                      <a:endParaRPr sz="1200">
                        <a:solidFill>
                          <a:srgbClr val="F1F5F9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1F5F9"/>
                          </a:solidFill>
                          <a:latin typeface="Calibri"/>
                        </a:rPr>
                        <a:t>JWT / OAuth2</a:t>
                      </a:r>
                      <a:endParaRPr sz="1200">
                        <a:solidFill>
                          <a:srgbClr val="F1F5F9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1F5F9"/>
                          </a:solidFill>
                          <a:latin typeface="Calibri"/>
                        </a:rPr>
                        <a:t>SQLite only</a:t>
                      </a:r>
                      <a:endParaRPr sz="1200">
                        <a:solidFill>
                          <a:srgbClr val="F1F5F9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1F5F9"/>
                          </a:solidFill>
                          <a:latin typeface="Calibri"/>
                        </a:rPr>
                        <a:t>Zero-config, adequate for demo</a:t>
                      </a:r>
                      <a:endParaRPr sz="1200">
                        <a:solidFill>
                          <a:srgbClr val="F1F5F9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1F5F9"/>
                          </a:solidFill>
                          <a:latin typeface="Calibri"/>
                        </a:rPr>
                        <a:t>PostgreSQL option</a:t>
                      </a:r>
                      <a:endParaRPr sz="1200">
                        <a:solidFill>
                          <a:srgbClr val="F1F5F9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F172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1F5F9"/>
                          </a:solidFill>
                          <a:latin typeface="Calibri"/>
                        </a:rPr>
                        <a:t>Regex-based parser</a:t>
                      </a:r>
                      <a:endParaRPr sz="1200">
                        <a:solidFill>
                          <a:srgbClr val="F1F5F9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1F5F9"/>
                          </a:solidFill>
                          <a:latin typeface="Calibri"/>
                        </a:rPr>
                        <a:t>No binary deps, pure Python</a:t>
                      </a:r>
                      <a:endParaRPr sz="1200">
                        <a:solidFill>
                          <a:srgbClr val="F1F5F9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1F5F9"/>
                          </a:solidFill>
                          <a:latin typeface="Calibri"/>
                        </a:rPr>
                        <a:t>HCL2 library</a:t>
                      </a:r>
                      <a:endParaRPr sz="1200">
                        <a:solidFill>
                          <a:srgbClr val="F1F5F9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1F5F9"/>
                          </a:solidFill>
                          <a:latin typeface="Calibri"/>
                        </a:rPr>
                        <a:t>Sync scanning</a:t>
                      </a:r>
                      <a:endParaRPr sz="1200">
                        <a:solidFill>
                          <a:srgbClr val="F1F5F9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1F5F9"/>
                          </a:solidFill>
                          <a:latin typeface="Calibri"/>
                        </a:rPr>
                        <a:t>Simple flow for single files</a:t>
                      </a:r>
                      <a:endParaRPr sz="1200">
                        <a:solidFill>
                          <a:srgbClr val="F1F5F9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1F5F9"/>
                          </a:solidFill>
                          <a:latin typeface="Calibri"/>
                        </a:rPr>
                        <a:t>Background tasks</a:t>
                      </a:r>
                      <a:endParaRPr sz="1200">
                        <a:solidFill>
                          <a:srgbClr val="F1F5F9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F172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1F5F9"/>
                          </a:solidFill>
                          <a:latin typeface="Calibri"/>
                        </a:rPr>
                        <a:t>AWS rules only</a:t>
                      </a:r>
                      <a:endParaRPr sz="1200">
                        <a:solidFill>
                          <a:srgbClr val="F1F5F9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1F5F9"/>
                          </a:solidFill>
                          <a:latin typeface="Calibri"/>
                        </a:rPr>
                        <a:t>Most common cloud provider</a:t>
                      </a:r>
                      <a:endParaRPr sz="1200">
                        <a:solidFill>
                          <a:srgbClr val="F1F5F9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1F5F9"/>
                          </a:solidFill>
                          <a:latin typeface="Calibri"/>
                        </a:rPr>
                        <a:t>Azure / GCP rules</a:t>
                      </a:r>
                      <a:endParaRPr sz="1200">
                        <a:solidFill>
                          <a:srgbClr val="F1F5F9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1F5F9"/>
                          </a:solidFill>
                          <a:latin typeface="Calibri"/>
                        </a:rPr>
                        <a:t>No CloudFormation</a:t>
                      </a:r>
                      <a:endParaRPr sz="1200">
                        <a:solidFill>
                          <a:srgbClr val="F1F5F9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1F5F9"/>
                          </a:solidFill>
                          <a:latin typeface="Calibri"/>
                        </a:rPr>
                        <a:t>Terraform-first approach</a:t>
                      </a:r>
                      <a:endParaRPr sz="1200">
                        <a:solidFill>
                          <a:srgbClr val="F1F5F9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1F5F9"/>
                          </a:solidFill>
                          <a:latin typeface="Calibri"/>
                        </a:rPr>
                        <a:t>YAML / JSON parser</a:t>
                      </a:r>
                      <a:endParaRPr sz="1200">
                        <a:solidFill>
                          <a:srgbClr val="F1F5F9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Future Roadmap</a:t>
            </a:r>
            <a:endParaRPr sz="32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286000" cy="38100"/>
          </a:xfrm>
          <a:prstGeom prst="rect">
            <a:avLst/>
          </a:prstGeom>
          <a:solidFill>
            <a:srgbClr val="38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  <a:latin typeface="Calibri"/>
              </a:rPr>
              <a:t>Planned enhancements beyond MVP</a:t>
            </a:r>
            <a:endParaRPr sz="1600" b="0">
              <a:solidFill>
                <a:srgbClr val="94A3B8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882F6"/>
                </a:solidFill>
                <a:latin typeface="Calibri"/>
              </a:rPr>
              <a:t>Near-term</a:t>
            </a:r>
            <a:endParaRPr sz="1800" b="1">
              <a:solidFill>
                <a:srgbClr val="3882F6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2423160"/>
            <a:ext cx="1371600" cy="38100"/>
          </a:xfrm>
          <a:prstGeom prst="rect">
            <a:avLst/>
          </a:prstGeom>
          <a:solidFill>
            <a:srgbClr val="38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65176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3882F6"/>
                </a:solidFill>
                <a:latin typeface="Calibri"/>
              </a:rPr>
              <a:t>●  </a:t>
            </a:r>
            <a:r>
              <a:rPr sz="1500">
                <a:solidFill>
                  <a:srgbClr val="F1F5F9"/>
                </a:solidFill>
                <a:latin typeface="Calibri"/>
              </a:rPr>
              <a:t>API key authentication</a:t>
            </a:r>
            <a:endParaRPr sz="1500">
              <a:solidFill>
                <a:srgbClr val="F1F5F9"/>
              </a:solidFill>
              <a:latin typeface="Calibri"/>
            </a:endParaRP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3882F6"/>
                </a:solidFill>
                <a:latin typeface="Calibri"/>
              </a:rPr>
              <a:t>●  </a:t>
            </a:r>
            <a:r>
              <a:rPr sz="1500">
                <a:solidFill>
                  <a:srgbClr val="F1F5F9"/>
                </a:solidFill>
                <a:latin typeface="Calibri"/>
              </a:rPr>
              <a:t>CloudFormation YAML/JSON parsing</a:t>
            </a:r>
            <a:endParaRPr sz="1500">
              <a:solidFill>
                <a:srgbClr val="F1F5F9"/>
              </a:solidFill>
              <a:latin typeface="Calibri"/>
            </a:endParaRP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3882F6"/>
                </a:solidFill>
                <a:latin typeface="Calibri"/>
              </a:rPr>
              <a:t>●  </a:t>
            </a:r>
            <a:r>
              <a:rPr sz="1500">
                <a:solidFill>
                  <a:srgbClr val="F1F5F9"/>
                </a:solidFill>
                <a:latin typeface="Calibri"/>
              </a:rPr>
              <a:t>Azure and GCP rule packs</a:t>
            </a:r>
            <a:endParaRPr sz="1500">
              <a:solidFill>
                <a:srgbClr val="F1F5F9"/>
              </a:solidFill>
              <a:latin typeface="Calibri"/>
            </a:endParaRP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3882F6"/>
                </a:solidFill>
                <a:latin typeface="Calibri"/>
              </a:rPr>
              <a:t>●  </a:t>
            </a:r>
            <a:r>
              <a:rPr sz="1500">
                <a:solidFill>
                  <a:srgbClr val="F1F5F9"/>
                </a:solidFill>
                <a:latin typeface="Calibri"/>
              </a:rPr>
              <a:t>Export results as PDF/CSV</a:t>
            </a:r>
            <a:endParaRPr sz="1500">
              <a:solidFill>
                <a:srgbClr val="F1F5F9"/>
              </a:solidFill>
              <a:latin typeface="Calibri"/>
            </a:endParaRP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3882F6"/>
                </a:solidFill>
                <a:latin typeface="Calibri"/>
              </a:rPr>
              <a:t>●  </a:t>
            </a:r>
            <a:r>
              <a:rPr sz="1500">
                <a:solidFill>
                  <a:srgbClr val="F1F5F9"/>
                </a:solidFill>
                <a:latin typeface="Calibri"/>
              </a:rPr>
              <a:t>Error boundary in React frontend</a:t>
            </a:r>
            <a:endParaRPr sz="1500">
              <a:solidFill>
                <a:srgbClr val="F1F5F9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00800" y="20116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B8A6"/>
                </a:solidFill>
                <a:latin typeface="Calibri"/>
              </a:rPr>
              <a:t>Long-term</a:t>
            </a:r>
            <a:endParaRPr sz="1800" b="1">
              <a:solidFill>
                <a:srgbClr val="14B8A6"/>
              </a:solidFill>
              <a:latin typeface="Calibri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400800" y="2423160"/>
            <a:ext cx="1371600" cy="381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65176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14B8A6"/>
                </a:solidFill>
                <a:latin typeface="Calibri"/>
              </a:rPr>
              <a:t>●  </a:t>
            </a:r>
            <a:r>
              <a:rPr sz="1500">
                <a:solidFill>
                  <a:srgbClr val="F1F5F9"/>
                </a:solidFill>
                <a:latin typeface="Calibri"/>
              </a:rPr>
              <a:t>JWT/OAuth2 with RBAC</a:t>
            </a:r>
            <a:endParaRPr sz="1500">
              <a:solidFill>
                <a:srgbClr val="F1F5F9"/>
              </a:solidFill>
              <a:latin typeface="Calibri"/>
            </a:endParaRP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B8A6"/>
                </a:solidFill>
                <a:latin typeface="Calibri"/>
              </a:rPr>
              <a:t>●  </a:t>
            </a:r>
            <a:r>
              <a:rPr sz="1500">
                <a:solidFill>
                  <a:srgbClr val="F1F5F9"/>
                </a:solidFill>
                <a:latin typeface="Calibri"/>
              </a:rPr>
              <a:t>Async scan processing</a:t>
            </a:r>
            <a:endParaRPr sz="1500">
              <a:solidFill>
                <a:srgbClr val="F1F5F9"/>
              </a:solidFill>
              <a:latin typeface="Calibri"/>
            </a:endParaRP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B8A6"/>
                </a:solidFill>
                <a:latin typeface="Calibri"/>
              </a:rPr>
              <a:t>●  </a:t>
            </a:r>
            <a:r>
              <a:rPr sz="1500">
                <a:solidFill>
                  <a:srgbClr val="F1F5F9"/>
                </a:solidFill>
                <a:latin typeface="Calibri"/>
              </a:rPr>
              <a:t>Multi-file / zip upload</a:t>
            </a:r>
            <a:endParaRPr sz="1500">
              <a:solidFill>
                <a:srgbClr val="F1F5F9"/>
              </a:solidFill>
              <a:latin typeface="Calibri"/>
            </a:endParaRP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B8A6"/>
                </a:solidFill>
                <a:latin typeface="Calibri"/>
              </a:rPr>
              <a:t>●  </a:t>
            </a:r>
            <a:r>
              <a:rPr sz="1500">
                <a:solidFill>
                  <a:srgbClr val="F1F5F9"/>
                </a:solidFill>
                <a:latin typeface="Calibri"/>
              </a:rPr>
              <a:t>Scan trend comparison charts</a:t>
            </a:r>
            <a:endParaRPr sz="1500">
              <a:solidFill>
                <a:srgbClr val="F1F5F9"/>
              </a:solidFill>
              <a:latin typeface="Calibri"/>
            </a:endParaRP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B8A6"/>
                </a:solidFill>
                <a:latin typeface="Calibri"/>
              </a:rPr>
              <a:t>●  </a:t>
            </a:r>
            <a:r>
              <a:rPr sz="1500">
                <a:solidFill>
                  <a:srgbClr val="F1F5F9"/>
                </a:solidFill>
                <a:latin typeface="Calibri"/>
              </a:rPr>
              <a:t>Webhook notifications</a:t>
            </a:r>
            <a:endParaRPr sz="1500">
              <a:solidFill>
                <a:srgbClr val="F1F5F9"/>
              </a:solidFill>
              <a:latin typeface="Calibri"/>
            </a:endParaRP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B8A6"/>
                </a:solidFill>
                <a:latin typeface="Calibri"/>
              </a:rPr>
              <a:t>●  </a:t>
            </a:r>
            <a:r>
              <a:rPr sz="1500">
                <a:solidFill>
                  <a:srgbClr val="F1F5F9"/>
                </a:solidFill>
                <a:latin typeface="Calibri"/>
              </a:rPr>
              <a:t>PostgreSQL migration option</a:t>
            </a:r>
            <a:endParaRPr sz="1500">
              <a:solidFill>
                <a:srgbClr val="F1F5F9"/>
              </a:solidFill>
              <a:latin typeface="Calibri"/>
            </a:endParaRP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B8A6"/>
                </a:solidFill>
                <a:latin typeface="Calibri"/>
              </a:rPr>
              <a:t>●  </a:t>
            </a:r>
            <a:r>
              <a:rPr sz="1500">
                <a:solidFill>
                  <a:srgbClr val="F1F5F9"/>
                </a:solidFill>
                <a:latin typeface="Calibri"/>
              </a:rPr>
              <a:t>Custom guardrail creation via UI</a:t>
            </a:r>
            <a:endParaRPr sz="1500">
              <a:solidFill>
                <a:srgbClr val="F1F5F9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Demo Flow</a:t>
            </a:r>
            <a:endParaRPr sz="32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286000" cy="38100"/>
          </a:xfrm>
          <a:prstGeom prst="rect">
            <a:avLst/>
          </a:prstGeom>
          <a:solidFill>
            <a:srgbClr val="38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  <a:latin typeface="Calibri"/>
              </a:rPr>
              <a:t>Live walkthrough of the scanning workflow</a:t>
            </a:r>
            <a:endParaRPr sz="1600" b="0">
              <a:solidFill>
                <a:srgbClr val="94A3B8"/>
              </a:solidFill>
              <a:latin typeface="Calibri"/>
            </a:endParaRPr>
          </a:p>
        </p:txBody>
      </p:sp>
      <p:sp>
        <p:nvSpPr>
          <p:cNvPr id="5" name="Oval 4"/>
          <p:cNvSpPr/>
          <p:nvPr/>
        </p:nvSpPr>
        <p:spPr>
          <a:xfrm>
            <a:off x="1051560" y="2560320"/>
            <a:ext cx="822960" cy="822960"/>
          </a:xfrm>
          <a:prstGeom prst="ellipse">
            <a:avLst/>
          </a:prstGeom>
          <a:solidFill>
            <a:srgbClr val="38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670048"/>
            <a:ext cx="822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1</a:t>
            </a:r>
            <a:endParaRPr sz="28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011680" y="274320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94A3B8"/>
                </a:solidFill>
                <a:latin typeface="Calibri"/>
              </a:rPr>
              <a:t>→</a:t>
            </a:r>
            <a:endParaRPr sz="2400" b="0">
              <a:solidFill>
                <a:srgbClr val="94A3B8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" y="35661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Start Stack</a:t>
            </a:r>
            <a:endParaRPr sz="16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" y="402336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  <a:latin typeface="Calibri"/>
              </a:rPr>
              <a:t>docker compose up
--build -d</a:t>
            </a:r>
            <a:endParaRPr sz="1200" b="0">
              <a:solidFill>
                <a:srgbClr val="94A3B8"/>
              </a:solidFill>
              <a:latin typeface="Calibri"/>
            </a:endParaRPr>
          </a:p>
        </p:txBody>
      </p:sp>
      <p:sp>
        <p:nvSpPr>
          <p:cNvPr id="10" name="Oval 9"/>
          <p:cNvSpPr/>
          <p:nvPr/>
        </p:nvSpPr>
        <p:spPr>
          <a:xfrm>
            <a:off x="3337560" y="2560320"/>
            <a:ext cx="822960" cy="822960"/>
          </a:xfrm>
          <a:prstGeom prst="ellipse">
            <a:avLst/>
          </a:prstGeom>
          <a:solidFill>
            <a:srgbClr val="38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2670048"/>
            <a:ext cx="822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2</a:t>
            </a:r>
            <a:endParaRPr sz="28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297680" y="274320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94A3B8"/>
                </a:solidFill>
                <a:latin typeface="Calibri"/>
              </a:rPr>
              <a:t>→</a:t>
            </a:r>
            <a:endParaRPr sz="2400" b="0">
              <a:solidFill>
                <a:srgbClr val="94A3B8"/>
              </a:solidFill>
              <a:latin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834640" y="35661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Open Dashboard</a:t>
            </a:r>
            <a:endParaRPr sz="16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834640" y="402336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  <a:latin typeface="Calibri"/>
              </a:rPr>
              <a:t>http://localhost:3000
View stats &amp; charts</a:t>
            </a:r>
            <a:endParaRPr sz="1200" b="0">
              <a:solidFill>
                <a:srgbClr val="94A3B8"/>
              </a:solidFill>
              <a:latin typeface="Calibri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623560" y="2560320"/>
            <a:ext cx="822960" cy="822960"/>
          </a:xfrm>
          <a:prstGeom prst="ellipse">
            <a:avLst/>
          </a:prstGeom>
          <a:solidFill>
            <a:srgbClr val="38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23560" y="2670048"/>
            <a:ext cx="822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3</a:t>
            </a:r>
            <a:endParaRPr sz="28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583680" y="274320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94A3B8"/>
                </a:solidFill>
                <a:latin typeface="Calibri"/>
              </a:rPr>
              <a:t>→</a:t>
            </a:r>
            <a:endParaRPr sz="2400" b="0">
              <a:solidFill>
                <a:srgbClr val="94A3B8"/>
              </a:solidFill>
              <a:latin typeface="Calibr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120640" y="35661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Upload .tf File</a:t>
            </a:r>
            <a:endParaRPr sz="16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120640" y="402336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  <a:latin typeface="Calibri"/>
              </a:rPr>
              <a:t>New Scan → Upload
vulnerable-infra.tf</a:t>
            </a:r>
            <a:endParaRPr sz="1200" b="0">
              <a:solidFill>
                <a:srgbClr val="94A3B8"/>
              </a:solidFill>
              <a:latin typeface="Calibri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7909560" y="2560320"/>
            <a:ext cx="822960" cy="822960"/>
          </a:xfrm>
          <a:prstGeom prst="ellipse">
            <a:avLst/>
          </a:prstGeom>
          <a:solidFill>
            <a:srgbClr val="38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09560" y="2670048"/>
            <a:ext cx="822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4</a:t>
            </a:r>
            <a:endParaRPr sz="28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869680" y="274320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94A3B8"/>
                </a:solidFill>
                <a:latin typeface="Calibri"/>
              </a:rPr>
              <a:t>→</a:t>
            </a:r>
            <a:endParaRPr sz="2400" b="0">
              <a:solidFill>
                <a:srgbClr val="94A3B8"/>
              </a:solidFill>
              <a:latin typeface="Calibri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406640" y="35661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View Findings</a:t>
            </a:r>
            <a:endParaRPr sz="16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406640" y="402336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  <a:latin typeface="Calibri"/>
              </a:rPr>
              <a:t>Scan Detail → Findings
grouped by severity</a:t>
            </a:r>
            <a:endParaRPr sz="1200" b="0">
              <a:solidFill>
                <a:srgbClr val="94A3B8"/>
              </a:solidFill>
              <a:latin typeface="Calibri"/>
            </a:endParaRPr>
          </a:p>
        </p:txBody>
      </p:sp>
      <p:sp>
        <p:nvSpPr>
          <p:cNvPr id="25" name="Oval 24"/>
          <p:cNvSpPr/>
          <p:nvPr/>
        </p:nvSpPr>
        <p:spPr>
          <a:xfrm>
            <a:off x="10195560" y="2560320"/>
            <a:ext cx="822960" cy="822960"/>
          </a:xfrm>
          <a:prstGeom prst="ellipse">
            <a:avLst/>
          </a:prstGeom>
          <a:solidFill>
            <a:srgbClr val="38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195560" y="2670048"/>
            <a:ext cx="822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5</a:t>
            </a:r>
            <a:endParaRPr sz="28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9692640" y="35661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Check Score</a:t>
            </a:r>
            <a:endParaRPr sz="16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9692640" y="402336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  <a:latin typeface="Calibri"/>
              </a:rPr>
              <a:t>Risk score badge
0–100 weighted</a:t>
            </a:r>
            <a:endParaRPr sz="1200" b="0">
              <a:solidFill>
                <a:srgbClr val="94A3B8"/>
              </a:solidFill>
              <a:latin typeface="Calibri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1371600" y="5120640"/>
            <a:ext cx="9418320" cy="7315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645920" y="5212080"/>
            <a:ext cx="8869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4B8A6"/>
                </a:solidFill>
                <a:latin typeface="Calibri"/>
              </a:rPr>
              <a:t>📁  Sample files: samples/vulnerable-infra.tf (11 vulns)  •  samples/multi-service-vulnerable.tf (9 vulns)</a:t>
            </a:r>
            <a:endParaRPr sz="1400" b="0">
              <a:solidFill>
                <a:srgbClr val="14B8A6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MVP App Screenshots — New Scan Forms</a:t>
            </a:r>
            <a:endParaRPr sz="32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286000" cy="38100"/>
          </a:xfrm>
          <a:prstGeom prst="rect">
            <a:avLst/>
          </a:prstGeom>
          <a:solidFill>
            <a:srgbClr val="38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  <a:latin typeface="Calibri"/>
              </a:rPr>
              <a:t>File upload and direct content entry modes</a:t>
            </a:r>
            <a:endParaRPr sz="1600" b="0">
              <a:solidFill>
                <a:srgbClr val="94A3B8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65760" y="182880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3882F6"/>
                </a:solidFill>
                <a:latin typeface="Calibri"/>
              </a:rPr>
              <a:t>File Upload</a:t>
            </a:r>
            <a:endParaRPr sz="1400" b="1">
              <a:solidFill>
                <a:srgbClr val="3882F6"/>
              </a:solidFill>
              <a:latin typeface="Calibri"/>
            </a:endParaRPr>
          </a:p>
        </p:txBody>
      </p:sp>
      <p:pic>
        <p:nvPicPr>
          <p:cNvPr id="6" name="Picture 5" descr="New_Scan_File_Upload_Form_multi_service_infra_confi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286000"/>
            <a:ext cx="3566160" cy="22288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206240" y="182880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3882F6"/>
                </a:solidFill>
                <a:latin typeface="Calibri"/>
              </a:rPr>
              <a:t>Direct Entry (S3/SG/IAM)</a:t>
            </a:r>
            <a:endParaRPr sz="1400" b="1">
              <a:solidFill>
                <a:srgbClr val="3882F6"/>
              </a:solidFill>
              <a:latin typeface="Calibri"/>
            </a:endParaRPr>
          </a:p>
        </p:txBody>
      </p:sp>
      <p:pic>
        <p:nvPicPr>
          <p:cNvPr id="8" name="Picture 7" descr="New_Scan_direct_entry_Form_AWS_S3_SG_IAM_infra_con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2286000"/>
            <a:ext cx="3566160" cy="22288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046720" y="182880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3882F6"/>
                </a:solidFill>
                <a:latin typeface="Calibri"/>
              </a:rPr>
              <a:t>Direct Input (S3/RDS/EBS)</a:t>
            </a:r>
            <a:endParaRPr sz="1400" b="1">
              <a:solidFill>
                <a:srgbClr val="3882F6"/>
              </a:solidFill>
              <a:latin typeface="Calibri"/>
            </a:endParaRPr>
          </a:p>
        </p:txBody>
      </p:sp>
      <p:pic>
        <p:nvPicPr>
          <p:cNvPr id="10" name="Picture 9" descr="Scan_Direct_Input_Form_for_AWS_S3_RDS_EBS_Infra_Confi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2286000"/>
            <a:ext cx="3566160" cy="222885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MVP App Screenshots — Scan Results</a:t>
            </a:r>
            <a:endParaRPr sz="32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286000" cy="38100"/>
          </a:xfrm>
          <a:prstGeom prst="rect">
            <a:avLst/>
          </a:prstGeom>
          <a:solidFill>
            <a:srgbClr val="38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  <a:latin typeface="Calibri"/>
              </a:rPr>
              <a:t>Security findings with severity grouping and risk scores</a:t>
            </a:r>
            <a:endParaRPr sz="1600" b="0">
              <a:solidFill>
                <a:srgbClr val="94A3B8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65760" y="182880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3882F6"/>
                </a:solidFill>
                <a:latin typeface="Calibri"/>
              </a:rPr>
              <a:t>Direct Entry (S3/SG/IAM)</a:t>
            </a:r>
            <a:endParaRPr sz="1400" b="1">
              <a:solidFill>
                <a:srgbClr val="3882F6"/>
              </a:solidFill>
              <a:latin typeface="Calibri"/>
            </a:endParaRPr>
          </a:p>
        </p:txBody>
      </p:sp>
      <p:pic>
        <p:nvPicPr>
          <p:cNvPr id="6" name="Picture 5" descr="Scan_Results_for_Direct_Entry_AWS_S3_SG_IAM_infra_confi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286000"/>
            <a:ext cx="3566160" cy="22288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206240" y="182880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3882F6"/>
                </a:solidFill>
                <a:latin typeface="Calibri"/>
              </a:rPr>
              <a:t>Direct Input (S3/RDS/EBS)</a:t>
            </a:r>
            <a:endParaRPr sz="1400" b="1">
              <a:solidFill>
                <a:srgbClr val="3882F6"/>
              </a:solidFill>
              <a:latin typeface="Calibri"/>
            </a:endParaRPr>
          </a:p>
        </p:txBody>
      </p:sp>
      <p:pic>
        <p:nvPicPr>
          <p:cNvPr id="8" name="Picture 7" descr="Scan_Results_for_Direct_input_AWS_S3_RDS_EBS_Infra_Con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2286000"/>
            <a:ext cx="3566160" cy="22288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046720" y="182880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3882F6"/>
                </a:solidFill>
                <a:latin typeface="Calibri"/>
              </a:rPr>
              <a:t>Uploaded Multi-Service</a:t>
            </a:r>
            <a:endParaRPr sz="1400" b="1">
              <a:solidFill>
                <a:srgbClr val="3882F6"/>
              </a:solidFill>
              <a:latin typeface="Calibri"/>
            </a:endParaRPr>
          </a:p>
        </p:txBody>
      </p:sp>
      <p:pic>
        <p:nvPicPr>
          <p:cNvPr id="10" name="Picture 9" descr="Scan_Results_for_uploaded_multi_service_infra_confi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2286000"/>
            <a:ext cx="3566160" cy="222885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MVP App Screenshots — Dashboard &amp; Scan History</a:t>
            </a:r>
            <a:endParaRPr sz="32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286000" cy="38100"/>
          </a:xfrm>
          <a:prstGeom prst="rect">
            <a:avLst/>
          </a:prstGeom>
          <a:solidFill>
            <a:srgbClr val="38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  <a:latin typeface="Calibri"/>
              </a:rPr>
              <a:t>Live application captures from the running MVP</a:t>
            </a:r>
            <a:endParaRPr sz="1600" b="0">
              <a:solidFill>
                <a:srgbClr val="94A3B8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3882F6"/>
                </a:solidFill>
                <a:latin typeface="Calibri"/>
              </a:rPr>
              <a:t>Dashboard</a:t>
            </a:r>
            <a:endParaRPr sz="1600" b="1">
              <a:solidFill>
                <a:srgbClr val="3882F6"/>
              </a:solidFill>
              <a:latin typeface="Calibri"/>
            </a:endParaRPr>
          </a:p>
        </p:txBody>
      </p:sp>
      <p:pic>
        <p:nvPicPr>
          <p:cNvPr id="6" name="Picture 5" descr="Dashboar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286000"/>
            <a:ext cx="5303520" cy="33147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17920" y="18288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3882F6"/>
                </a:solidFill>
                <a:latin typeface="Calibri"/>
              </a:rPr>
              <a:t>Scan History</a:t>
            </a:r>
            <a:endParaRPr sz="1600" b="1">
              <a:solidFill>
                <a:srgbClr val="3882F6"/>
              </a:solidFill>
              <a:latin typeface="Calibri"/>
            </a:endParaRPr>
          </a:p>
        </p:txBody>
      </p:sp>
      <p:pic>
        <p:nvPicPr>
          <p:cNvPr id="8" name="Picture 7" descr="scan_his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2286000"/>
            <a:ext cx="5303520" cy="33147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09728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Enterprise Security Guardrail Auditor</a:t>
            </a:r>
            <a:endParaRPr sz="36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754880" y="1920240"/>
            <a:ext cx="2743200" cy="38100"/>
          </a:xfrm>
          <a:prstGeom prst="rect">
            <a:avLst/>
          </a:prstGeom>
          <a:solidFill>
            <a:srgbClr val="38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0" y="2377440"/>
            <a:ext cx="6675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1F5F9"/>
                </a:solidFill>
                <a:latin typeface="Calibri"/>
              </a:rPr>
              <a:t>✅  Automated IaC security scanning — 15 rules</a:t>
            </a:r>
            <a:endParaRPr sz="1800" b="0">
              <a:solidFill>
                <a:srgbClr val="F1F5F9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743200" y="2816352"/>
            <a:ext cx="6675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1F5F9"/>
                </a:solidFill>
                <a:latin typeface="Calibri"/>
              </a:rPr>
              <a:t>✅  Weighted risk scoring — 0 to 100</a:t>
            </a:r>
            <a:endParaRPr sz="1800" b="0">
              <a:solidFill>
                <a:srgbClr val="F1F5F9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743200" y="3255264"/>
            <a:ext cx="6675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1F5F9"/>
                </a:solidFill>
                <a:latin typeface="Calibri"/>
              </a:rPr>
              <a:t>✅  Visual dashboard with severity charts</a:t>
            </a:r>
            <a:endParaRPr sz="1800" b="0">
              <a:solidFill>
                <a:srgbClr val="F1F5F9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743200" y="3694176"/>
            <a:ext cx="6675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1F5F9"/>
                </a:solidFill>
                <a:latin typeface="Calibri"/>
              </a:rPr>
              <a:t>✅  RESTful API with OpenAPI documentation</a:t>
            </a:r>
            <a:endParaRPr sz="1800" b="0">
              <a:solidFill>
                <a:srgbClr val="F1F5F9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743200" y="4133087"/>
            <a:ext cx="6675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1F5F9"/>
                </a:solidFill>
                <a:latin typeface="Calibri"/>
              </a:rPr>
              <a:t>✅  94.65% test coverage, zero lint violations</a:t>
            </a:r>
            <a:endParaRPr sz="1800" b="0">
              <a:solidFill>
                <a:srgbClr val="F1F5F9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743200" y="4572000"/>
            <a:ext cx="6675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1F5F9"/>
                </a:solidFill>
                <a:latin typeface="Calibri"/>
              </a:rPr>
              <a:t>✅  Production-ready Docker deployment</a:t>
            </a:r>
            <a:endParaRPr sz="1800" b="0">
              <a:solidFill>
                <a:srgbClr val="F1F5F9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743200" y="5010912"/>
            <a:ext cx="6675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1F5F9"/>
                </a:solidFill>
                <a:latin typeface="Calibri"/>
              </a:rPr>
              <a:t>✅  Extensible rule system for future growth</a:t>
            </a:r>
            <a:endParaRPr sz="1800" b="0">
              <a:solidFill>
                <a:srgbClr val="F1F5F9"/>
              </a:solidFill>
              <a:latin typeface="Calibri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3200400" y="5486400"/>
            <a:ext cx="5760720" cy="640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0" y="557784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3882F6"/>
                </a:solidFill>
                <a:latin typeface="Calibri"/>
              </a:rPr>
              <a:t>github.com/SimeonDee/Enterprise-Security-Guardrail-Auditor</a:t>
            </a:r>
            <a:endParaRPr sz="1600" b="0">
              <a:solidFill>
                <a:srgbClr val="3882F6"/>
              </a:solidFill>
              <a:latin typeface="Calibri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38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Calibri"/>
              </a:rPr>
              <a:t>Thank You</a:t>
            </a:r>
            <a:endParaRPr sz="54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754880" y="3200400"/>
            <a:ext cx="2743200" cy="38100"/>
          </a:xfrm>
          <a:prstGeom prst="rect">
            <a:avLst/>
          </a:prstGeom>
          <a:solidFill>
            <a:srgbClr val="38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365760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94A3B8"/>
                </a:solidFill>
                <a:latin typeface="Calibri"/>
              </a:rPr>
              <a:t>Questions &amp; Discussion</a:t>
            </a:r>
            <a:endParaRPr sz="2400" b="0">
              <a:solidFill>
                <a:srgbClr val="94A3B8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828800" y="475488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1F5F9"/>
                </a:solidFill>
                <a:latin typeface="Calibri"/>
              </a:rPr>
              <a:t>Adedoyin Simeon Adeyemi</a:t>
            </a:r>
            <a:endParaRPr sz="1800" b="1">
              <a:solidFill>
                <a:srgbClr val="F1F5F9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828800" y="521208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3882F6"/>
                </a:solidFill>
                <a:latin typeface="Calibri"/>
              </a:rPr>
              <a:t>github.com/SimeonDee/Enterprise-Security-Guardrail-Auditor</a:t>
            </a:r>
            <a:endParaRPr sz="1600" b="0">
              <a:solidFill>
                <a:srgbClr val="3882F6"/>
              </a:solidFill>
              <a:latin typeface="Calibri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38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7110</Words>
  <Application>WPS Presentation</Application>
  <PresentationFormat>On-screen Show (4:3)</PresentationFormat>
  <Paragraphs>608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33" baseType="lpstr">
      <vt:lpstr>Arial</vt:lpstr>
      <vt:lpstr>SimSun</vt:lpstr>
      <vt:lpstr>Wingdings</vt:lpstr>
      <vt:lpstr>Arial</vt:lpstr>
      <vt:lpstr>Calibri</vt:lpstr>
      <vt:lpstr>Helvetica Neue</vt:lpstr>
      <vt:lpstr>Consolas</vt:lpstr>
      <vt:lpstr>Apple Color Emoji</vt:lpstr>
      <vt:lpstr>Microsoft YaHei</vt:lpstr>
      <vt:lpstr>汉仪旗黑</vt:lpstr>
      <vt:lpstr>Arial Unicode MS</vt:lpstr>
      <vt:lpstr>宋体-简</vt:lpstr>
      <vt:lpstr>Thonburi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mac</cp:lastModifiedBy>
  <cp:revision>2</cp:revision>
  <dcterms:created xsi:type="dcterms:W3CDTF">2026-05-28T10:32:36Z</dcterms:created>
  <dcterms:modified xsi:type="dcterms:W3CDTF">2026-05-28T10:32:36Z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7161B918FB2FB0A8C419186A085A1403_42</vt:lpwstr>
  </property>
  <property fmtid="{D5CDD505-2E9C-101B-9397-08002B2CF9AE}" pid="3" name="KSOProductBuildVer">
    <vt:lpwstr>1033-12.1.23155.23155</vt:lpwstr>
  </property>
</Properties>
</file>