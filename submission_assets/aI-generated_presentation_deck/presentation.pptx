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8" r:id="rId12"/>
    <p:sldId id="269" r:id="rId13"/>
    <p:sldId id="270" r:id="rId14"/>
    <p:sldId id="271" r:id="rId15"/>
    <p:sldId id="272" r:id="rId16"/>
    <p:sldId id="265" r:id="rId17"/>
    <p:sldId id="266" r:id="rId18"/>
    <p:sldId id="264" r:id="rId19"/>
    <p:sldId id="273" r:id="rId20"/>
    <p:sldId id="274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13716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3882F6"/>
                </a:solidFill>
                <a:latin typeface="Calibri"/>
              </a:rPr>
              <a:t>🛡️</a:t>
            </a:r>
            <a:endParaRPr sz="6400" b="0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Enterprise Security Guardrail Auditor</a:t>
            </a:r>
            <a:endParaRPr sz="4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54880" y="3474720"/>
            <a:ext cx="27432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API-first Infrastructure Security Scanner  •  Terraform  •  Risk Scoring  •  Dashboard</a:t>
            </a:r>
            <a:endParaRPr sz="18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/>
              </a:rPr>
              <a:t>Technical Architecture Review &amp; MVP Demo</a:t>
            </a:r>
            <a:endParaRPr sz="1600" b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Adedoyin Simeon Adeyemi  •  May 2026</a:t>
            </a:r>
            <a:endParaRPr sz="1400" b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Problem Statement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Infrastructure misconfigurations are the #1 cause of cloud security breaches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5603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Calibri"/>
              </a:rPr>
              <a:t>☁️</a:t>
            </a:r>
            <a:endParaRPr sz="40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Public S3 Buckets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Exposing sensitive data to the internet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20439" y="2103120"/>
            <a:ext cx="25603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19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Calibri"/>
              </a:rPr>
              <a:t>🔓</a:t>
            </a:r>
            <a:endParaRPr sz="40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03319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Open SSH Ports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3319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Inviting brute-force attacks on servers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09359" y="2103120"/>
            <a:ext cx="25603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39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Calibri"/>
              </a:rPr>
              <a:t>💾</a:t>
            </a:r>
            <a:endParaRPr sz="40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39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Unencrypted Databases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39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Violating compliance (HIPAA, SOC2, PCI-DSS)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98280" y="2103120"/>
            <a:ext cx="25603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Calibri"/>
              </a:rPr>
              <a:t>👤</a:t>
            </a:r>
            <a:endParaRPr sz="40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8116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Wildcard IAM Policies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81160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Granting god-mode access across accounts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B8A6"/>
                </a:solidFill>
                <a:latin typeface="Calibri"/>
              </a:rPr>
              <a:t>Teams need automated, continuous auditing of infrastructure-as-code before deployment.</a:t>
            </a:r>
            <a:endParaRPr sz="1600" b="1">
              <a:solidFill>
                <a:srgbClr val="14B8A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Solution Overview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Enterprise Security Guardrail Auditor — an API-first infrastructure scanner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1554480" y="2286000"/>
            <a:ext cx="914400" cy="91440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51760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94A3B8"/>
                </a:solidFill>
                <a:latin typeface="Calibri"/>
              </a:rPr>
              <a:t>→</a:t>
            </a:r>
            <a:endParaRPr sz="28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882F6"/>
                </a:solidFill>
                <a:latin typeface="Calibri"/>
              </a:rPr>
              <a:t>PARSE</a:t>
            </a:r>
            <a:endParaRPr sz="20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Terraform
configuration files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343399" y="228600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40679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94A3B8"/>
                </a:solidFill>
                <a:latin typeface="Calibri"/>
              </a:rPr>
              <a:t>→</a:t>
            </a:r>
            <a:endParaRPr sz="28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03319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B8A6"/>
                </a:solidFill>
                <a:latin typeface="Calibri"/>
              </a:rPr>
              <a:t>EVALUATE</a:t>
            </a:r>
            <a:endParaRPr sz="20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03319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Against 15
security rules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32319" y="2286000"/>
            <a:ext cx="914400" cy="9144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9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9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94A3B8"/>
                </a:solidFill>
                <a:latin typeface="Calibri"/>
              </a:rPr>
              <a:t>→</a:t>
            </a:r>
            <a:endParaRPr sz="28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39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Calibri"/>
              </a:rPr>
              <a:t>SCORE</a:t>
            </a:r>
            <a:endParaRPr sz="2000" b="1">
              <a:solidFill>
                <a:srgbClr val="F9731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39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Weighted risk
0–100 scale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921240" y="2286000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116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Calibri"/>
              </a:rPr>
              <a:t>VISUALIZE</a:t>
            </a:r>
            <a:endParaRPr sz="2000" b="1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8116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Real-time
dashboard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Upload a .tf file  →  Get instant security findings with remediation guidance</a:t>
            </a:r>
            <a:endParaRPr sz="2000" b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System Architecture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API-first, async, pluggable rule engine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411480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82F6"/>
                </a:solidFill>
                <a:latin typeface="Calibri"/>
              </a:rPr>
              <a:t>Frontend — React 19 + TypeScript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Dashboard &amp; Risk Visualization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Scan Management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Guardrail Configuration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Tailwind CSS + Recharts</a:t>
            </a:r>
            <a:endParaRPr sz="13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0" y="3474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REST API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882F6"/>
                </a:solidFill>
                <a:latin typeface="Calibri"/>
              </a:rPr>
              <a:t>◀─────▶</a:t>
            </a:r>
            <a:endParaRPr sz="1800" b="0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75120" y="2286000"/>
            <a:ext cx="475488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4688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Backend — FastAPI + SQLAlchemy Async</a:t>
            </a:r>
            <a:endParaRPr sz="16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49440" y="30175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Thin Controllers + Service Layer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Scanner: Parser → Rules → Scoring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Async throughout (aiosqlite)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SQLite Database</a:t>
            </a:r>
            <a:endParaRPr sz="13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94A3B8"/>
                </a:solidFill>
                <a:latin typeface="Calibri"/>
              </a:rPr>
              <a:t>API-first: Frontend is a pure REST consumer</a:t>
            </a:r>
            <a:endParaRPr sz="1300">
              <a:solidFill>
                <a:srgbClr val="94A3B8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94A3B8"/>
                </a:solidFill>
                <a:latin typeface="Calibri"/>
              </a:rPr>
              <a:t>Pluggable rules: BaseRule subclasses</a:t>
            </a:r>
            <a:endParaRPr sz="1300">
              <a:solidFill>
                <a:srgbClr val="94A3B8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94A3B8"/>
                </a:solidFill>
                <a:latin typeface="Calibri"/>
              </a:rPr>
              <a:t>Async throughout: FastAPI + SQLAlchemy async</a:t>
            </a:r>
            <a:endParaRPr sz="130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Scanner Engine Design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Four-stage pipeline with pluggable rules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6858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1. Parse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TerraformParser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list[ParsedResource]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2. Evaluate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RuleRegistry → BaseRule.evaluate()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list[Finding]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3. Score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calculate_risk_score()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float (0–100)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4. Aggregate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ScanEngine.scan()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ScanResult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82F6"/>
                </a:solidFill>
                <a:latin typeface="Calibri"/>
              </a:rPr>
              <a:t>Key Design Choices</a:t>
            </a:r>
            <a:endParaRPr sz="18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46720" y="2514600"/>
            <a:ext cx="18288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Frozen dataclasses for
immutable scan results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Registry pattern for O(1)
rule lookup by resource type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Dual scan paths
(engine + legacy regex)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Automatic deduplication
of findings</a:t>
            </a:r>
            <a:endParaRPr sz="1400">
              <a:solidFill>
                <a:srgbClr val="F1F5F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Security Rules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15 rules covering critical AWS infrastructure patterns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82F6"/>
                </a:solidFill>
                <a:latin typeface="Calibri"/>
              </a:rPr>
              <a:t>Engine Rules (5)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Catches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S3 Public Access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Critical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Public ACL on S3 buckets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Open SSH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Critical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Port 22 open to 0.0.0.0/0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Public Database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Critical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RDS publicly_accessible = true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Wildcard IAM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Critical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Action: "*" in policies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Disabled Encryption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High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storage_encrypted = false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Seed Guardrails (+10)</a:t>
            </a:r>
            <a:endParaRPr sz="16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Default VPC detection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CloudWatch logging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EBS volume encryption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RDS backup retention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Security group egress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S3 versioning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IAM user policies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MFA enforcement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VPC flow logs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KMS key rotation</a:t>
            </a:r>
            <a:endParaRPr sz="1300">
              <a:solidFill>
                <a:srgbClr val="F1F5F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Risk Scoring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Weighted severity model with 0–100 scale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5029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Critical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10.0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Immediate exploitation risk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High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7.0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Significant security gap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Medium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4.0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Best practice violation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Low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1.0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Minor improvement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Info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0.5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Advisory only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82F6"/>
                </a:solidFill>
                <a:latin typeface="Calibri"/>
              </a:rPr>
              <a:t>Formula</a:t>
            </a:r>
            <a:endParaRPr sz="18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0" y="2514600"/>
            <a:ext cx="18288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50292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8803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B8A6"/>
                </a:solidFill>
                <a:latin typeface="Consolas"/>
              </a:rPr>
              <a:t>score = (weighted_sum / max_possible) × 100</a:t>
            </a:r>
            <a:endParaRPr sz="1800" b="1">
              <a:solidFill>
                <a:srgbClr val="14B8A6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Score Interpretation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10972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2C55E"/>
                </a:solidFill>
                <a:latin typeface="Calibri"/>
              </a:rPr>
              <a:t>0</a:t>
            </a:r>
            <a:endParaRPr sz="2400" b="1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5212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Clean</a:t>
            </a:r>
            <a:endParaRPr sz="11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35240" y="4572000"/>
            <a:ext cx="10972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663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AB308"/>
                </a:solidFill>
                <a:latin typeface="Calibri"/>
              </a:rPr>
              <a:t>25</a:t>
            </a:r>
            <a:endParaRPr sz="2400" b="1">
              <a:solidFill>
                <a:srgbClr val="EAB30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35240" y="5212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Low Risk</a:t>
            </a:r>
            <a:endParaRPr sz="11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869680" y="4572000"/>
            <a:ext cx="10972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4663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97316"/>
                </a:solidFill>
                <a:latin typeface="Calibri"/>
              </a:rPr>
              <a:t>60</a:t>
            </a:r>
            <a:endParaRPr sz="2400" b="1">
              <a:solidFill>
                <a:srgbClr val="F9731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9680" y="5212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High Risk</a:t>
            </a:r>
            <a:endParaRPr sz="11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104120" y="4572000"/>
            <a:ext cx="10972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4663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F4444"/>
                </a:solidFill>
                <a:latin typeface="Calibri"/>
              </a:rPr>
              <a:t>100</a:t>
            </a:r>
            <a:endParaRPr sz="2400" b="1">
              <a:solidFill>
                <a:srgbClr val="EF4444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104120" y="5212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Critical</a:t>
            </a:r>
            <a:endParaRPr sz="1100" b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Frontend Dashboard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React 19 + TypeScript + Tailwind CSS + Recharts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1031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📊</a:t>
            </a:r>
            <a:endParaRPr sz="36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Dashboard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Stats cards, severity bar chart,
recent scans overview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34640" y="2286000"/>
            <a:ext cx="21031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📋</a:t>
            </a:r>
            <a:endParaRPr sz="36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71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Scan List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7180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Paginated table with
status &amp; file type filters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21031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📤</a:t>
            </a:r>
            <a:endParaRPr sz="36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57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New Scan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5780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Upload .tf file or
paste content directly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06640" y="2286000"/>
            <a:ext cx="21031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🔍</a:t>
            </a:r>
            <a:endParaRPr sz="36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43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Scan Detail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4380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Findings by severity,
risk score badge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692640" y="2286000"/>
            <a:ext cx="21031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⚙️</a:t>
            </a:r>
            <a:endParaRPr sz="36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29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Guardrails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2980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Security rule
management interface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B8A6"/>
                </a:solidFill>
                <a:latin typeface="Calibri"/>
              </a:rPr>
              <a:t>React 19  •  TypeScript  •  Tailwind CSS 3  •  Recharts  •  React Query  •  React Router 7</a:t>
            </a:r>
            <a:endParaRPr sz="1400" b="0">
              <a:solidFill>
                <a:srgbClr val="14B8A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Tech Stack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Modern async Python + React with full DevOps pipeline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828800"/>
          <a:ext cx="94183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API Framework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FastAPI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Async REST API with OpenAPI docs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ORM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SQLAlchemy 2.x Async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Async database operations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Database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SQLite + aiosqlite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Zero-config persistence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Validation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Pydantic v2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Request/response schemas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Frontend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React 19 + TypeScript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Type-safe UI components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Styling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Tailwind CSS 3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Utility-first responsive design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Charts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Recharts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Severity distribution visualization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Server State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@tanstack/react-query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Cache, sync, background refresh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Testing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pytest + Vitest + RTL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Backend + frontend coverage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CI/CD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GitHub Actions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5-job automated pipeline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Containers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Docker + Compose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Multi-stage production builds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Testing &amp; Quality Assurance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Automated testing, linting, and security audit pipeline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0116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Backend Tests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97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34640" y="2011680"/>
            <a:ext cx="20116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Coverage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94.65%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20640" y="2011680"/>
            <a:ext cx="20116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Frontend Tests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035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24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06640" y="2011680"/>
            <a:ext cx="20116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Lint Violations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95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692640" y="2011680"/>
            <a:ext cx="20116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Security Findings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755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26 / 10 fixed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82F6"/>
                </a:solidFill>
                <a:latin typeface="Calibri"/>
              </a:rPr>
              <a:t>Testing Approach</a:t>
            </a:r>
            <a:endParaRPr sz="18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4069080"/>
            <a:ext cx="18288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Async integration tests with httpx.AsyncClient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In-memory SQLite for test isolation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React Testing Library for behavior testing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Pre-commit hooks prevent regressions</a:t>
            </a:r>
            <a:endParaRPr sz="14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Quality Gates</a:t>
            </a:r>
            <a:endParaRPr sz="18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0" y="4069080"/>
            <a:ext cx="18288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ruff — linting (E, F, W, I, N, UP, S, B)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black — code formatting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mypy — static type checking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tsc — TypeScript type checking</a:t>
            </a:r>
            <a:endParaRPr sz="1400">
              <a:solidFill>
                <a:srgbClr val="F1F5F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DevOps &amp; Deployment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Production-ready containerized deployment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82F6"/>
                </a:solidFill>
                <a:latin typeface="Calibri"/>
              </a:rPr>
              <a:t>GitHub Actions CI — 5 Jobs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Calibri"/>
              </a:rPr>
              <a:t>✓ backend-lint</a:t>
            </a:r>
            <a:endParaRPr sz="1200" b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0" y="256032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Calibri"/>
              </a:rPr>
              <a:t>✓ backend-test</a:t>
            </a:r>
            <a:endParaRPr sz="1200" b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80" y="256032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Calibri"/>
              </a:rPr>
              <a:t>✓ frontend-lint</a:t>
            </a:r>
            <a:endParaRPr sz="1200" b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66560" y="256032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Calibri"/>
              </a:rPr>
              <a:t>✓ frontend-test</a:t>
            </a:r>
            <a:endParaRPr sz="1200" b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778240" y="256032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Calibri"/>
              </a:rPr>
              <a:t>✓ docker-build</a:t>
            </a:r>
            <a:endParaRPr sz="1200" b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Docker</a:t>
            </a:r>
            <a:endParaRPr sz="16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Multi-stage builds (small images)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Non-root container users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Healthcheck endpoints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docker-compose one-command deploy</a:t>
            </a:r>
            <a:endParaRPr sz="14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82F6"/>
                </a:solidFill>
                <a:latin typeface="Calibri"/>
              </a:rPr>
              <a:t>Developer Tools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Makefile with 12 shortcuts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Pre-commit hooks (ruff, black, mypy)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Secret detection in commits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.env.example for easy setup</a:t>
            </a:r>
            <a:endParaRPr sz="14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10515600" cy="9144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6235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  <a:latin typeface="Consolas"/>
              </a:rPr>
              <a:t>$ docker compose up --build -d    # Full stack in 60 seconds
$ make test                       # Run all tests
$ make lint                       # Run all linters</a:t>
            </a:r>
            <a:endParaRPr sz="1300" b="0">
              <a:solidFill>
                <a:srgbClr val="22C55E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MVP Tradeoffs &amp; Limitations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Pragmatic decisions for rapid delivery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10332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93192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Future Fix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No authentication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MVP scope — scanner logic first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JWT / OAuth2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SQLite only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Zero-config, adequate for demo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PostgreSQL option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Regex-based parser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No binary deps, pure Python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HCL2 library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Sync scanning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Simple flow for single files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Background tasks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AWS rules only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Most common cloud provider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Azure / GCP rules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No CloudFormation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Terraform-first approach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YAML / JSON parser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Future Roadmap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Planned enhancements beyond MVP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82F6"/>
                </a:solidFill>
                <a:latin typeface="Calibri"/>
              </a:rPr>
              <a:t>Near-term</a:t>
            </a:r>
            <a:endParaRPr sz="18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13716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882F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API key authentication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82F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CloudFormation YAML/JSON parsing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82F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Azure and GCP rule packs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82F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Export results as PDF/CSV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82F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Error boundary in React frontend</a:t>
            </a:r>
            <a:endParaRPr sz="15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Long-term</a:t>
            </a:r>
            <a:endParaRPr sz="18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0" y="242316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JWT/OAuth2 with RBAC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Async scan processing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Multi-file / zip upload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Scan trend comparison charts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Webhook notifications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PostgreSQL migration option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Custom guardrail creation via UI</a:t>
            </a:r>
            <a:endParaRPr sz="1500">
              <a:solidFill>
                <a:srgbClr val="F1F5F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Demo Flow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Live walkthrough of the scanning workflow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51560" y="2560320"/>
            <a:ext cx="822960" cy="8229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700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  <a:endParaRPr sz="2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Start Stack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docker compose up
--build -d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337560" y="2560320"/>
            <a:ext cx="822960" cy="8229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6700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76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  <a:endParaRPr sz="2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34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Open Dashboard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4640" y="4023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http://localhost:3000
View stats &amp; charts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623560" y="2560320"/>
            <a:ext cx="822960" cy="8229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6700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  <a:endParaRPr sz="2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20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Upload .tf File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20640" y="4023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New Scan → Upload
vulnerable-infra.tf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909560" y="2560320"/>
            <a:ext cx="822960" cy="8229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6700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696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  <a:endParaRPr sz="2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View Findings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06640" y="4023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Scan Detail → Findings
grouped by severity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0195560" y="2560320"/>
            <a:ext cx="822960" cy="8229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26700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92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Check Score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92640" y="4023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Risk score badge
0–100 weighted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371600" y="5120640"/>
            <a:ext cx="94183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52120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B8A6"/>
                </a:solidFill>
                <a:latin typeface="Calibri"/>
              </a:rPr>
              <a:t>📁  Sample files: samples/vulnerable-infra.tf (11 vulns)  •  samples/multi-service-vulnerable.tf (9 vulns)</a:t>
            </a:r>
            <a:endParaRPr sz="1400" b="0">
              <a:solidFill>
                <a:srgbClr val="14B8A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MVP App Screenshots — New Scan Forms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File upload and direct content entry modes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File Upload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6" name="Picture 5" descr="New_Scan_File_Upload_Form_multi_service_infra_confi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Direct Entry (S3/SG/IAM)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8" name="Picture 7" descr="New_Scan_direct_entry_Form_AWS_S3_SG_IAM_infra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286000"/>
            <a:ext cx="3566160" cy="2228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Direct Input (S3/RDS/EBS)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10" name="Picture 9" descr="Scan_Direct_Input_Form_for_AWS_S3_RDS_EBS_Infra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0"/>
            <a:ext cx="3566160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MVP App Screenshots — Scan Results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Security findings with severity grouping and risk scores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Direct Entry (S3/SG/IAM)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6" name="Picture 5" descr="Scan_Results_for_Direct_Entry_AWS_S3_SG_IAM_infra_confi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Direct Input (S3/RDS/EBS)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8" name="Picture 7" descr="Scan_Results_for_Direct_input_AWS_S3_RDS_EBS_Infra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286000"/>
            <a:ext cx="3566160" cy="2228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Uploaded Multi-Service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10" name="Picture 9" descr="Scan_Results_for_uploaded_multi_service_infra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0"/>
            <a:ext cx="3566160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MVP App Screenshots — Dashboard &amp; Scan History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Live application captures from the running MVP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82F6"/>
                </a:solidFill>
                <a:latin typeface="Calibri"/>
              </a:rPr>
              <a:t>Dashboard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5303520" cy="3314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82F6"/>
                </a:solidFill>
                <a:latin typeface="Calibri"/>
              </a:rPr>
              <a:t>Scan History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8" name="Picture 7" descr="sca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8600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Enterprise Security Guardrail Auditor</a:t>
            </a:r>
            <a:endParaRPr sz="3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4880" y="1920240"/>
            <a:ext cx="27432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37744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Automated IaC security scanning — 15 rules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0" y="281635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Weighted risk scoring — 0 to 100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3255264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Visual dashboard with severity charts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3694176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RESTful API with OpenAPI documentation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0" y="4133087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94.65% test coverage, zero lint violations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0" y="457200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Production-ready Docker deployment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0" y="501091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Extensible rule system for future growth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00400" y="5486400"/>
            <a:ext cx="576072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55778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82F6"/>
                </a:solidFill>
                <a:latin typeface="Calibri"/>
              </a:rPr>
              <a:t>github.com/SimeonDee/Enterprise-Security-Guardrail-Auditor</a:t>
            </a:r>
            <a:endParaRPr sz="1600" b="0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  <a:endParaRPr sz="5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4880" y="3200400"/>
            <a:ext cx="27432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Questions &amp; Discussion</a:t>
            </a:r>
            <a:endParaRPr sz="2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  <a:latin typeface="Calibri"/>
              </a:rPr>
              <a:t>Adedoyin Simeon Adeyemi</a:t>
            </a:r>
            <a:endParaRPr sz="1800" b="1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52120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82F6"/>
                </a:solidFill>
                <a:latin typeface="Calibri"/>
              </a:rPr>
              <a:t>github.com/SimeonDee/Enterprise-Security-Guardrail-Auditor</a:t>
            </a:r>
            <a:endParaRPr sz="1600" b="0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7110</Words>
  <Application>WPS Presentation</Application>
  <PresentationFormat>On-screen Show (4:3)</PresentationFormat>
  <Paragraphs>608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Helvetica Neue</vt:lpstr>
      <vt:lpstr>Consolas</vt:lpstr>
      <vt:lpstr>Apple Color Emoji</vt:lpstr>
      <vt:lpstr>Microsoft YaHei</vt:lpstr>
      <vt:lpstr>汉仪旗黑</vt:lpstr>
      <vt:lpstr>Arial Unicode MS</vt:lpstr>
      <vt:lpstr>宋体-简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mac</cp:lastModifiedBy>
  <cp:revision>2</cp:revision>
  <dcterms:created xsi:type="dcterms:W3CDTF">2026-05-28T10:33:48Z</dcterms:created>
  <dcterms:modified xsi:type="dcterms:W3CDTF">2026-05-28T10:33:48Z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87E06AB5765570900C1A186A05E9689C_42</vt:lpwstr>
  </property>
  <property fmtid="{D5CDD505-2E9C-101B-9397-08002B2CF9AE}" pid="3" name="KSOProductBuildVer">
    <vt:lpwstr>1033-12.1.23155.23155</vt:lpwstr>
  </property>
</Properties>
</file>